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7" r:id="rId14"/>
    <p:sldId id="268" r:id="rId15"/>
    <p:sldId id="269" r:id="rId16"/>
    <p:sldId id="270" r:id="rId17"/>
    <p:sldId id="271" r:id="rId18"/>
    <p:sldId id="272" r:id="rId19"/>
    <p:sldId id="273" r:id="rId20"/>
    <p:sldId id="274" r:id="rId21"/>
    <p:sldId id="275" r:id="rId22"/>
    <p:sldId id="276"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61" autoAdjust="0"/>
    <p:restoredTop sz="94660"/>
  </p:normalViewPr>
  <p:slideViewPr>
    <p:cSldViewPr snapToGrid="0">
      <p:cViewPr>
        <p:scale>
          <a:sx n="66" d="100"/>
          <a:sy n="66" d="100"/>
        </p:scale>
        <p:origin x="158" y="-2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93E37DBE-9208-4482-AE6D-4844086B2639}" type="datetimeFigureOut">
              <a:rPr kumimoji="1" lang="ja-JP" altLang="en-US" smtClean="0"/>
              <a:t>2018/7/8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C53DFF3-3782-4DCB-99A0-C75688AB17A6}" type="slidenum">
              <a:rPr kumimoji="1" lang="ja-JP" altLang="en-US" smtClean="0"/>
              <a:t>‹#›</a:t>
            </a:fld>
            <a:endParaRPr kumimoji="1" lang="ja-JP"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4032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93E37DBE-9208-4482-AE6D-4844086B2639}" type="datetimeFigureOut">
              <a:rPr kumimoji="1" lang="ja-JP" altLang="en-US" smtClean="0"/>
              <a:t>2018/7/8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C53DFF3-3782-4DCB-99A0-C75688AB17A6}" type="slidenum">
              <a:rPr kumimoji="1" lang="ja-JP" altLang="en-US" smtClean="0"/>
              <a:t>‹#›</a:t>
            </a:fld>
            <a:endParaRPr kumimoji="1" lang="ja-JP" altLang="en-US"/>
          </a:p>
        </p:txBody>
      </p:sp>
    </p:spTree>
    <p:extLst>
      <p:ext uri="{BB962C8B-B14F-4D97-AF65-F5344CB8AC3E}">
        <p14:creationId xmlns:p14="http://schemas.microsoft.com/office/powerpoint/2010/main" val="627866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93E37DBE-9208-4482-AE6D-4844086B2639}" type="datetimeFigureOut">
              <a:rPr kumimoji="1" lang="ja-JP" altLang="en-US" smtClean="0"/>
              <a:t>2018/7/8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C53DFF3-3782-4DCB-99A0-C75688AB17A6}" type="slidenum">
              <a:rPr kumimoji="1" lang="ja-JP" altLang="en-US" smtClean="0"/>
              <a:t>‹#›</a:t>
            </a:fld>
            <a:endParaRPr kumimoji="1" lang="ja-JP"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2673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93E37DBE-9208-4482-AE6D-4844086B2639}" type="datetimeFigureOut">
              <a:rPr kumimoji="1" lang="ja-JP" altLang="en-US" smtClean="0"/>
              <a:t>2018/7/8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C53DFF3-3782-4DCB-99A0-C75688AB17A6}" type="slidenum">
              <a:rPr kumimoji="1" lang="ja-JP" altLang="en-US" smtClean="0"/>
              <a:t>‹#›</a:t>
            </a:fld>
            <a:endParaRPr kumimoji="1" lang="ja-JP" altLang="en-US"/>
          </a:p>
        </p:txBody>
      </p:sp>
    </p:spTree>
    <p:extLst>
      <p:ext uri="{BB962C8B-B14F-4D97-AF65-F5344CB8AC3E}">
        <p14:creationId xmlns:p14="http://schemas.microsoft.com/office/powerpoint/2010/main" val="3876805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097280" y="2582334"/>
            <a:ext cx="4937760" cy="33782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217920" y="2582334"/>
            <a:ext cx="4937760" cy="33782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93E37DBE-9208-4482-AE6D-4844086B2639}" type="datetimeFigureOut">
              <a:rPr kumimoji="1" lang="ja-JP" altLang="en-US" smtClean="0"/>
              <a:t>2018/7/8</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C53DFF3-3782-4DCB-99A0-C75688AB17A6}" type="slidenum">
              <a:rPr kumimoji="1" lang="ja-JP" altLang="en-US" smtClean="0"/>
              <a:t>‹#›</a:t>
            </a:fld>
            <a:endParaRPr kumimoji="1" lang="ja-JP" altLang="en-US"/>
          </a:p>
        </p:txBody>
      </p:sp>
    </p:spTree>
    <p:extLst>
      <p:ext uri="{BB962C8B-B14F-4D97-AF65-F5344CB8AC3E}">
        <p14:creationId xmlns:p14="http://schemas.microsoft.com/office/powerpoint/2010/main" val="1338237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93E37DBE-9208-4482-AE6D-4844086B2639}" type="datetimeFigureOut">
              <a:rPr kumimoji="1" lang="ja-JP" altLang="en-US" smtClean="0"/>
              <a:t>2018/7/8</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C53DFF3-3782-4DCB-99A0-C75688AB17A6}" type="slidenum">
              <a:rPr kumimoji="1" lang="ja-JP" altLang="en-US" smtClean="0"/>
              <a:t>‹#›</a:t>
            </a:fld>
            <a:endParaRPr kumimoji="1" lang="ja-JP" altLang="en-US"/>
          </a:p>
        </p:txBody>
      </p:sp>
    </p:spTree>
    <p:extLst>
      <p:ext uri="{BB962C8B-B14F-4D97-AF65-F5344CB8AC3E}">
        <p14:creationId xmlns:p14="http://schemas.microsoft.com/office/powerpoint/2010/main" val="1471278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3E37DBE-9208-4482-AE6D-4844086B2639}" type="datetimeFigureOut">
              <a:rPr kumimoji="1" lang="ja-JP" altLang="en-US" smtClean="0"/>
              <a:t>2018/7/8</a:t>
            </a:fld>
            <a:endParaRPr kumimoji="1" lang="ja-JP"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kumimoji="1" lang="ja-JP" altLang="en-US"/>
          </a:p>
        </p:txBody>
      </p:sp>
      <p:sp>
        <p:nvSpPr>
          <p:cNvPr id="9" name="Slide Number Placeholder 8"/>
          <p:cNvSpPr>
            <a:spLocks noGrp="1"/>
          </p:cNvSpPr>
          <p:nvPr>
            <p:ph type="sldNum" sz="quarter" idx="12"/>
          </p:nvPr>
        </p:nvSpPr>
        <p:spPr/>
        <p:txBody>
          <a:bodyPr/>
          <a:lstStyle/>
          <a:p>
            <a:fld id="{EC53DFF3-3782-4DCB-99A0-C75688AB17A6}" type="slidenum">
              <a:rPr kumimoji="1" lang="ja-JP" altLang="en-US" smtClean="0"/>
              <a:t>‹#›</a:t>
            </a:fld>
            <a:endParaRPr kumimoji="1" lang="ja-JP" altLang="en-US"/>
          </a:p>
        </p:txBody>
      </p:sp>
    </p:spTree>
    <p:extLst>
      <p:ext uri="{BB962C8B-B14F-4D97-AF65-F5344CB8AC3E}">
        <p14:creationId xmlns:p14="http://schemas.microsoft.com/office/powerpoint/2010/main" val="33264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コンテンツ">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3E37DBE-9208-4482-AE6D-4844086B2639}" type="datetimeFigureOut">
              <a:rPr kumimoji="1" lang="ja-JP" altLang="en-US" smtClean="0"/>
              <a:t>2018/7/8</a:t>
            </a:fld>
            <a:endParaRPr kumimoji="1" lang="ja-JP"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kumimoji="1" lang="ja-JP"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C53DFF3-3782-4DCB-99A0-C75688AB17A6}" type="slidenum">
              <a:rPr kumimoji="1" lang="ja-JP" altLang="en-US" smtClean="0"/>
              <a:t>‹#›</a:t>
            </a:fld>
            <a:endParaRPr kumimoji="1" lang="ja-JP" altLang="en-US"/>
          </a:p>
        </p:txBody>
      </p:sp>
    </p:spTree>
    <p:extLst>
      <p:ext uri="{BB962C8B-B14F-4D97-AF65-F5344CB8AC3E}">
        <p14:creationId xmlns:p14="http://schemas.microsoft.com/office/powerpoint/2010/main" val="659248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93E37DBE-9208-4482-AE6D-4844086B2639}" type="datetimeFigureOut">
              <a:rPr kumimoji="1" lang="ja-JP" altLang="en-US" smtClean="0"/>
              <a:t>2018/7/8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C53DFF3-3782-4DCB-99A0-C75688AB17A6}" type="slidenum">
              <a:rPr kumimoji="1" lang="ja-JP" altLang="en-US" smtClean="0"/>
              <a:t>‹#›</a:t>
            </a:fld>
            <a:endParaRPr kumimoji="1" lang="ja-JP" altLang="en-US"/>
          </a:p>
        </p:txBody>
      </p:sp>
    </p:spTree>
    <p:extLst>
      <p:ext uri="{BB962C8B-B14F-4D97-AF65-F5344CB8AC3E}">
        <p14:creationId xmlns:p14="http://schemas.microsoft.com/office/powerpoint/2010/main" val="3664896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93E37DBE-9208-4482-AE6D-4844086B2639}" type="datetimeFigureOut">
              <a:rPr kumimoji="1" lang="ja-JP" altLang="en-US" smtClean="0"/>
              <a:t>2018/7/8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C53DFF3-3782-4DCB-99A0-C75688AB17A6}" type="slidenum">
              <a:rPr kumimoji="1" lang="ja-JP" altLang="en-US" smtClean="0"/>
              <a:t>‹#›</a:t>
            </a:fld>
            <a:endParaRPr kumimoji="1" lang="ja-JP" altLang="en-US"/>
          </a:p>
        </p:txBody>
      </p:sp>
    </p:spTree>
    <p:extLst>
      <p:ext uri="{BB962C8B-B14F-4D97-AF65-F5344CB8AC3E}">
        <p14:creationId xmlns:p14="http://schemas.microsoft.com/office/powerpoint/2010/main" val="582284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縦書きタイトルと&#10;縦書きテキスト">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93E37DBE-9208-4482-AE6D-4844086B2639}" type="datetimeFigureOut">
              <a:rPr kumimoji="1" lang="ja-JP" altLang="en-US" smtClean="0"/>
              <a:t>2018/7/8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C53DFF3-3782-4DCB-99A0-C75688AB17A6}" type="slidenum">
              <a:rPr kumimoji="1" lang="ja-JP" altLang="en-US" smtClean="0"/>
              <a:t>‹#›</a:t>
            </a:fld>
            <a:endParaRPr kumimoji="1" lang="ja-JP" altLang="en-US"/>
          </a:p>
        </p:txBody>
      </p:sp>
    </p:spTree>
    <p:extLst>
      <p:ext uri="{BB962C8B-B14F-4D97-AF65-F5344CB8AC3E}">
        <p14:creationId xmlns:p14="http://schemas.microsoft.com/office/powerpoint/2010/main" val="576472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3E37DBE-9208-4482-AE6D-4844086B2639}" type="datetimeFigureOut">
              <a:rPr kumimoji="1" lang="ja-JP" altLang="en-US" smtClean="0"/>
              <a:t>2018/7/8</a:t>
            </a:fld>
            <a:endParaRPr kumimoji="1" lang="ja-JP"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kumimoji="1" lang="ja-JP"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C53DFF3-3782-4DCB-99A0-C75688AB17A6}" type="slidenum">
              <a:rPr kumimoji="1" lang="ja-JP" altLang="en-US" smtClean="0"/>
              <a:t>‹#›</a:t>
            </a:fld>
            <a:endParaRPr kumimoji="1" lang="ja-JP"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81848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kumimoji="1"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tmp"/><Relationship Id="rId5" Type="http://schemas.openxmlformats.org/officeDocument/2006/relationships/image" Target="../media/image7.tmp"/><Relationship Id="rId4" Type="http://schemas.openxmlformats.org/officeDocument/2006/relationships/image" Target="../media/image6.tmp"/></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tmp"/><Relationship Id="rId1" Type="http://schemas.openxmlformats.org/officeDocument/2006/relationships/slideLayout" Target="../slideLayouts/slideLayout2.xml"/><Relationship Id="rId4" Type="http://schemas.openxmlformats.org/officeDocument/2006/relationships/image" Target="../media/image8.tmp"/></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2.tmp"/><Relationship Id="rId4" Type="http://schemas.openxmlformats.org/officeDocument/2006/relationships/image" Target="../media/image11.tmp"/></Relationships>
</file>

<file path=ppt/slides/_rels/slide8.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hyperlink" Target="https://github.com/yoshikiakashi/gittest" TargetMode="External"/><Relationship Id="rId1" Type="http://schemas.openxmlformats.org/officeDocument/2006/relationships/slideLayout" Target="../slideLayouts/slideLayout2.xml"/><Relationship Id="rId5" Type="http://schemas.openxmlformats.org/officeDocument/2006/relationships/image" Target="../media/image14.tmp"/><Relationship Id="rId4" Type="http://schemas.openxmlformats.org/officeDocument/2006/relationships/hyperlink" Target="https://github.com/yoshikiakashi/gittest/branche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hyperlink" Target="https://github.com/yoshikiakashi/gittest/blob/brancha/game/filea.tx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hyperlink" Target="https://github.com/yoshikiakashi/gittest/pull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hyperlink" Target="https://github.com/yoshikiakashi/gittest/compare/master...brancha"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hyperlink" Target="https://github.com/yoshikiakashi/gittest/pull/1"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0.tmp"/><Relationship Id="rId4" Type="http://schemas.openxmlformats.org/officeDocument/2006/relationships/hyperlink" Target="https://github.com/yoshikiakashi/gittest/branches/all"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tmp"/><Relationship Id="rId1" Type="http://schemas.openxmlformats.org/officeDocument/2006/relationships/slideLayout" Target="../slideLayouts/slideLayout2.xml"/><Relationship Id="rId4" Type="http://schemas.openxmlformats.org/officeDocument/2006/relationships/image" Target="../media/image22.tmp"/></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hyperlink" Target="https://github.com/yoshikiakashi/gittest/tree/master/game"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0.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7E6CB2-320E-448B-8F6C-485CBE2558EE}"/>
              </a:ext>
            </a:extLst>
          </p:cNvPr>
          <p:cNvSpPr>
            <a:spLocks noGrp="1"/>
          </p:cNvSpPr>
          <p:nvPr>
            <p:ph type="ctrTitle"/>
          </p:nvPr>
        </p:nvSpPr>
        <p:spPr/>
        <p:txBody>
          <a:bodyPr/>
          <a:lstStyle/>
          <a:p>
            <a:r>
              <a:rPr kumimoji="1" lang="en-US" altLang="ja-JP" sz="8800" dirty="0"/>
              <a:t>Git</a:t>
            </a:r>
            <a:r>
              <a:rPr kumimoji="1" lang="ja-JP" altLang="en-US" dirty="0"/>
              <a:t>操作～ブランチ編～</a:t>
            </a:r>
          </a:p>
        </p:txBody>
      </p:sp>
    </p:spTree>
    <p:extLst>
      <p:ext uri="{BB962C8B-B14F-4D97-AF65-F5344CB8AC3E}">
        <p14:creationId xmlns:p14="http://schemas.microsoft.com/office/powerpoint/2010/main" val="1725410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A4EEB4-D4A0-4D67-8DA3-7EDD4D0CAE2D}"/>
              </a:ext>
            </a:extLst>
          </p:cNvPr>
          <p:cNvSpPr>
            <a:spLocks noGrp="1"/>
          </p:cNvSpPr>
          <p:nvPr>
            <p:ph type="title"/>
          </p:nvPr>
        </p:nvSpPr>
        <p:spPr/>
        <p:txBody>
          <a:bodyPr/>
          <a:lstStyle/>
          <a:p>
            <a:r>
              <a:rPr kumimoji="1" lang="ja-JP" altLang="en-US" dirty="0"/>
              <a:t>１．ブランチとは</a:t>
            </a:r>
          </a:p>
        </p:txBody>
      </p:sp>
      <p:pic>
        <p:nvPicPr>
          <p:cNvPr id="5" name="コンテンツ プレースホルダー 4">
            <a:extLst>
              <a:ext uri="{FF2B5EF4-FFF2-40B4-BE49-F238E27FC236}">
                <a16:creationId xmlns:a16="http://schemas.microsoft.com/office/drawing/2014/main" id="{EE9C7252-1250-4B41-BBBD-C6093710BA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7279" y="3795562"/>
            <a:ext cx="1549667" cy="1549667"/>
          </a:xfrm>
        </p:spPr>
      </p:pic>
      <p:sp>
        <p:nvSpPr>
          <p:cNvPr id="6" name="テキスト ボックス 5">
            <a:extLst>
              <a:ext uri="{FF2B5EF4-FFF2-40B4-BE49-F238E27FC236}">
                <a16:creationId xmlns:a16="http://schemas.microsoft.com/office/drawing/2014/main" id="{9B8EDB6D-E01A-454E-8AF6-A54A33B2605A}"/>
              </a:ext>
            </a:extLst>
          </p:cNvPr>
          <p:cNvSpPr txBox="1"/>
          <p:nvPr/>
        </p:nvSpPr>
        <p:spPr>
          <a:xfrm>
            <a:off x="1097280" y="1941095"/>
            <a:ext cx="10058400" cy="954107"/>
          </a:xfrm>
          <a:prstGeom prst="rect">
            <a:avLst/>
          </a:prstGeom>
          <a:noFill/>
        </p:spPr>
        <p:txBody>
          <a:bodyPr wrap="square" rtlCol="0">
            <a:spAutoFit/>
          </a:bodyPr>
          <a:lstStyle/>
          <a:p>
            <a:r>
              <a:rPr kumimoji="1" lang="ja-JP" altLang="en-US" sz="2800" dirty="0"/>
              <a:t>ブランチは各ファイルが入っているフォルダで、リポジトリはそのブランチをまとめているフォルダ</a:t>
            </a:r>
          </a:p>
        </p:txBody>
      </p:sp>
      <p:sp>
        <p:nvSpPr>
          <p:cNvPr id="7" name="テキスト ボックス 6">
            <a:extLst>
              <a:ext uri="{FF2B5EF4-FFF2-40B4-BE49-F238E27FC236}">
                <a16:creationId xmlns:a16="http://schemas.microsoft.com/office/drawing/2014/main" id="{15DFBE83-5D5B-4BB8-83E2-6AF51D0CD637}"/>
              </a:ext>
            </a:extLst>
          </p:cNvPr>
          <p:cNvSpPr txBox="1"/>
          <p:nvPr/>
        </p:nvSpPr>
        <p:spPr>
          <a:xfrm>
            <a:off x="1129362" y="3653588"/>
            <a:ext cx="1838426" cy="523220"/>
          </a:xfrm>
          <a:prstGeom prst="rect">
            <a:avLst/>
          </a:prstGeom>
          <a:noFill/>
        </p:spPr>
        <p:txBody>
          <a:bodyPr wrap="square" rtlCol="0">
            <a:spAutoFit/>
          </a:bodyPr>
          <a:lstStyle/>
          <a:p>
            <a:r>
              <a:rPr kumimoji="1" lang="ja-JP" altLang="en-US" sz="2800" dirty="0"/>
              <a:t>リポジトリ</a:t>
            </a:r>
          </a:p>
        </p:txBody>
      </p:sp>
      <p:pic>
        <p:nvPicPr>
          <p:cNvPr id="8" name="コンテンツ プレースホルダー 4">
            <a:extLst>
              <a:ext uri="{FF2B5EF4-FFF2-40B4-BE49-F238E27FC236}">
                <a16:creationId xmlns:a16="http://schemas.microsoft.com/office/drawing/2014/main" id="{E1283A62-0BD7-4C77-B686-93AF45757C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6986" y="3240911"/>
            <a:ext cx="1549667" cy="1549667"/>
          </a:xfrm>
          <a:prstGeom prst="rect">
            <a:avLst/>
          </a:prstGeom>
        </p:spPr>
      </p:pic>
      <p:sp>
        <p:nvSpPr>
          <p:cNvPr id="9" name="テキスト ボックス 8">
            <a:extLst>
              <a:ext uri="{FF2B5EF4-FFF2-40B4-BE49-F238E27FC236}">
                <a16:creationId xmlns:a16="http://schemas.microsoft.com/office/drawing/2014/main" id="{8F438B25-7BDF-45D4-AD1E-EF9295A342F6}"/>
              </a:ext>
            </a:extLst>
          </p:cNvPr>
          <p:cNvSpPr txBox="1"/>
          <p:nvPr/>
        </p:nvSpPr>
        <p:spPr>
          <a:xfrm>
            <a:off x="4122817" y="3098937"/>
            <a:ext cx="1838426" cy="523220"/>
          </a:xfrm>
          <a:prstGeom prst="rect">
            <a:avLst/>
          </a:prstGeom>
          <a:noFill/>
        </p:spPr>
        <p:txBody>
          <a:bodyPr wrap="square" rtlCol="0">
            <a:spAutoFit/>
          </a:bodyPr>
          <a:lstStyle/>
          <a:p>
            <a:r>
              <a:rPr kumimoji="1" lang="ja-JP" altLang="en-US" sz="2800" dirty="0"/>
              <a:t>ブランチ</a:t>
            </a:r>
            <a:r>
              <a:rPr kumimoji="1" lang="en-US" altLang="ja-JP" sz="2800" dirty="0"/>
              <a:t>A</a:t>
            </a:r>
            <a:endParaRPr kumimoji="1" lang="ja-JP" altLang="en-US" sz="2800" dirty="0"/>
          </a:p>
        </p:txBody>
      </p:sp>
      <p:pic>
        <p:nvPicPr>
          <p:cNvPr id="10" name="コンテンツ プレースホルダー 4">
            <a:extLst>
              <a:ext uri="{FF2B5EF4-FFF2-40B4-BE49-F238E27FC236}">
                <a16:creationId xmlns:a16="http://schemas.microsoft.com/office/drawing/2014/main" id="{FF017569-705B-4024-9D88-4895DD599D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6985" y="4727863"/>
            <a:ext cx="1549667" cy="1549667"/>
          </a:xfrm>
          <a:prstGeom prst="rect">
            <a:avLst/>
          </a:prstGeom>
        </p:spPr>
      </p:pic>
      <p:sp>
        <p:nvSpPr>
          <p:cNvPr id="11" name="テキスト ボックス 10">
            <a:extLst>
              <a:ext uri="{FF2B5EF4-FFF2-40B4-BE49-F238E27FC236}">
                <a16:creationId xmlns:a16="http://schemas.microsoft.com/office/drawing/2014/main" id="{9FFCD0DD-5434-4C3B-8C0A-262D7DFAB008}"/>
              </a:ext>
            </a:extLst>
          </p:cNvPr>
          <p:cNvSpPr txBox="1"/>
          <p:nvPr/>
        </p:nvSpPr>
        <p:spPr>
          <a:xfrm>
            <a:off x="4122818" y="4648604"/>
            <a:ext cx="1838426" cy="523220"/>
          </a:xfrm>
          <a:prstGeom prst="rect">
            <a:avLst/>
          </a:prstGeom>
          <a:noFill/>
        </p:spPr>
        <p:txBody>
          <a:bodyPr wrap="square" rtlCol="0">
            <a:spAutoFit/>
          </a:bodyPr>
          <a:lstStyle/>
          <a:p>
            <a:r>
              <a:rPr kumimoji="1" lang="ja-JP" altLang="en-US" sz="2800" dirty="0"/>
              <a:t>ブランチ</a:t>
            </a:r>
            <a:r>
              <a:rPr kumimoji="1" lang="en-US" altLang="ja-JP" sz="2800" dirty="0"/>
              <a:t>B</a:t>
            </a:r>
            <a:endParaRPr kumimoji="1" lang="ja-JP" altLang="en-US" sz="2800" dirty="0"/>
          </a:p>
        </p:txBody>
      </p:sp>
      <p:sp>
        <p:nvSpPr>
          <p:cNvPr id="12" name="左中かっこ 11">
            <a:extLst>
              <a:ext uri="{FF2B5EF4-FFF2-40B4-BE49-F238E27FC236}">
                <a16:creationId xmlns:a16="http://schemas.microsoft.com/office/drawing/2014/main" id="{63B93D2E-5BB0-49A4-B346-D4FAC7769624}"/>
              </a:ext>
            </a:extLst>
          </p:cNvPr>
          <p:cNvSpPr/>
          <p:nvPr/>
        </p:nvSpPr>
        <p:spPr>
          <a:xfrm>
            <a:off x="2967787" y="3052085"/>
            <a:ext cx="994605" cy="303661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3" name="左中かっこ 12">
            <a:extLst>
              <a:ext uri="{FF2B5EF4-FFF2-40B4-BE49-F238E27FC236}">
                <a16:creationId xmlns:a16="http://schemas.microsoft.com/office/drawing/2014/main" id="{F7A8DF73-19BD-49D5-A497-59A4094F932A}"/>
              </a:ext>
            </a:extLst>
          </p:cNvPr>
          <p:cNvSpPr/>
          <p:nvPr/>
        </p:nvSpPr>
        <p:spPr>
          <a:xfrm>
            <a:off x="5937184" y="2560622"/>
            <a:ext cx="753978" cy="169542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4" name="左中かっこ 13">
            <a:extLst>
              <a:ext uri="{FF2B5EF4-FFF2-40B4-BE49-F238E27FC236}">
                <a16:creationId xmlns:a16="http://schemas.microsoft.com/office/drawing/2014/main" id="{C78EAEDC-C4D7-4B3A-8697-33CB69F961ED}"/>
              </a:ext>
            </a:extLst>
          </p:cNvPr>
          <p:cNvSpPr/>
          <p:nvPr/>
        </p:nvSpPr>
        <p:spPr>
          <a:xfrm>
            <a:off x="5961244" y="4539037"/>
            <a:ext cx="753978" cy="15496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8E0EE863-4C4F-4CB8-B3A6-16AE6E4252A3}"/>
              </a:ext>
            </a:extLst>
          </p:cNvPr>
          <p:cNvSpPr txBox="1"/>
          <p:nvPr/>
        </p:nvSpPr>
        <p:spPr>
          <a:xfrm>
            <a:off x="6882063" y="2695074"/>
            <a:ext cx="2342150" cy="369332"/>
          </a:xfrm>
          <a:prstGeom prst="rect">
            <a:avLst/>
          </a:prstGeom>
          <a:noFill/>
        </p:spPr>
        <p:txBody>
          <a:bodyPr wrap="square" rtlCol="0">
            <a:spAutoFit/>
          </a:bodyPr>
          <a:lstStyle/>
          <a:p>
            <a:r>
              <a:rPr kumimoji="1" lang="ja-JP" altLang="en-US" dirty="0"/>
              <a:t>データ</a:t>
            </a:r>
            <a:r>
              <a:rPr kumimoji="1" lang="en-US" altLang="ja-JP" dirty="0"/>
              <a:t>A.txt</a:t>
            </a:r>
            <a:endParaRPr kumimoji="1" lang="ja-JP" altLang="en-US" dirty="0"/>
          </a:p>
        </p:txBody>
      </p:sp>
      <p:sp>
        <p:nvSpPr>
          <p:cNvPr id="16" name="テキスト ボックス 15">
            <a:extLst>
              <a:ext uri="{FF2B5EF4-FFF2-40B4-BE49-F238E27FC236}">
                <a16:creationId xmlns:a16="http://schemas.microsoft.com/office/drawing/2014/main" id="{E169463C-284F-4E75-8ACC-F94406E72473}"/>
              </a:ext>
            </a:extLst>
          </p:cNvPr>
          <p:cNvSpPr txBox="1"/>
          <p:nvPr/>
        </p:nvSpPr>
        <p:spPr>
          <a:xfrm>
            <a:off x="6938211" y="3200401"/>
            <a:ext cx="2342150" cy="369332"/>
          </a:xfrm>
          <a:prstGeom prst="rect">
            <a:avLst/>
          </a:prstGeom>
          <a:noFill/>
        </p:spPr>
        <p:txBody>
          <a:bodyPr wrap="square" rtlCol="0">
            <a:spAutoFit/>
          </a:bodyPr>
          <a:lstStyle/>
          <a:p>
            <a:r>
              <a:rPr kumimoji="1" lang="ja-JP" altLang="en-US" dirty="0"/>
              <a:t>データ</a:t>
            </a:r>
            <a:r>
              <a:rPr kumimoji="1" lang="en-US" altLang="ja-JP" dirty="0"/>
              <a:t>B.pptx</a:t>
            </a:r>
            <a:endParaRPr kumimoji="1" lang="ja-JP" altLang="en-US" dirty="0"/>
          </a:p>
        </p:txBody>
      </p:sp>
      <p:sp>
        <p:nvSpPr>
          <p:cNvPr id="17" name="テキスト ボックス 16">
            <a:extLst>
              <a:ext uri="{FF2B5EF4-FFF2-40B4-BE49-F238E27FC236}">
                <a16:creationId xmlns:a16="http://schemas.microsoft.com/office/drawing/2014/main" id="{707F01A8-DA93-4CE4-B086-BE44A263A220}"/>
              </a:ext>
            </a:extLst>
          </p:cNvPr>
          <p:cNvSpPr txBox="1"/>
          <p:nvPr/>
        </p:nvSpPr>
        <p:spPr>
          <a:xfrm>
            <a:off x="6938211" y="3729789"/>
            <a:ext cx="2342150" cy="369332"/>
          </a:xfrm>
          <a:prstGeom prst="rect">
            <a:avLst/>
          </a:prstGeom>
          <a:noFill/>
        </p:spPr>
        <p:txBody>
          <a:bodyPr wrap="square" rtlCol="0">
            <a:spAutoFit/>
          </a:bodyPr>
          <a:lstStyle/>
          <a:p>
            <a:r>
              <a:rPr kumimoji="1" lang="ja-JP" altLang="en-US" dirty="0"/>
              <a:t>データ</a:t>
            </a:r>
            <a:r>
              <a:rPr kumimoji="1" lang="en-US" altLang="ja-JP" dirty="0"/>
              <a:t>C.jpg</a:t>
            </a:r>
            <a:endParaRPr kumimoji="1" lang="ja-JP" altLang="en-US" dirty="0"/>
          </a:p>
        </p:txBody>
      </p:sp>
      <p:sp>
        <p:nvSpPr>
          <p:cNvPr id="18" name="テキスト ボックス 17">
            <a:extLst>
              <a:ext uri="{FF2B5EF4-FFF2-40B4-BE49-F238E27FC236}">
                <a16:creationId xmlns:a16="http://schemas.microsoft.com/office/drawing/2014/main" id="{878A8E66-A8F8-4BEE-A6FB-AF9A74FED87E}"/>
              </a:ext>
            </a:extLst>
          </p:cNvPr>
          <p:cNvSpPr txBox="1"/>
          <p:nvPr/>
        </p:nvSpPr>
        <p:spPr>
          <a:xfrm>
            <a:off x="6922169" y="4676275"/>
            <a:ext cx="2342150" cy="369332"/>
          </a:xfrm>
          <a:prstGeom prst="rect">
            <a:avLst/>
          </a:prstGeom>
          <a:noFill/>
        </p:spPr>
        <p:txBody>
          <a:bodyPr wrap="square" rtlCol="0">
            <a:spAutoFit/>
          </a:bodyPr>
          <a:lstStyle/>
          <a:p>
            <a:r>
              <a:rPr kumimoji="1" lang="ja-JP" altLang="en-US" dirty="0"/>
              <a:t>データ</a:t>
            </a:r>
            <a:r>
              <a:rPr kumimoji="1" lang="en-US" altLang="ja-JP" dirty="0"/>
              <a:t>A’.txt</a:t>
            </a:r>
            <a:endParaRPr kumimoji="1" lang="ja-JP" altLang="en-US" dirty="0"/>
          </a:p>
        </p:txBody>
      </p:sp>
      <p:sp>
        <p:nvSpPr>
          <p:cNvPr id="19" name="テキスト ボックス 18">
            <a:extLst>
              <a:ext uri="{FF2B5EF4-FFF2-40B4-BE49-F238E27FC236}">
                <a16:creationId xmlns:a16="http://schemas.microsoft.com/office/drawing/2014/main" id="{45F50D24-0556-446E-A92F-020A3AA3A50A}"/>
              </a:ext>
            </a:extLst>
          </p:cNvPr>
          <p:cNvSpPr txBox="1"/>
          <p:nvPr/>
        </p:nvSpPr>
        <p:spPr>
          <a:xfrm>
            <a:off x="6938211" y="5141495"/>
            <a:ext cx="2342150" cy="369332"/>
          </a:xfrm>
          <a:prstGeom prst="rect">
            <a:avLst/>
          </a:prstGeom>
          <a:noFill/>
        </p:spPr>
        <p:txBody>
          <a:bodyPr wrap="square" rtlCol="0">
            <a:spAutoFit/>
          </a:bodyPr>
          <a:lstStyle/>
          <a:p>
            <a:r>
              <a:rPr kumimoji="1" lang="ja-JP" altLang="en-US" dirty="0"/>
              <a:t>データ</a:t>
            </a:r>
            <a:r>
              <a:rPr kumimoji="1" lang="en-US" altLang="ja-JP" dirty="0"/>
              <a:t>B’.pptx</a:t>
            </a:r>
            <a:endParaRPr kumimoji="1" lang="ja-JP" altLang="en-US" dirty="0"/>
          </a:p>
        </p:txBody>
      </p:sp>
      <p:sp>
        <p:nvSpPr>
          <p:cNvPr id="20" name="テキスト ボックス 19">
            <a:extLst>
              <a:ext uri="{FF2B5EF4-FFF2-40B4-BE49-F238E27FC236}">
                <a16:creationId xmlns:a16="http://schemas.microsoft.com/office/drawing/2014/main" id="{7D7E8114-F65A-4BD6-A2EC-98936D88DF74}"/>
              </a:ext>
            </a:extLst>
          </p:cNvPr>
          <p:cNvSpPr txBox="1"/>
          <p:nvPr/>
        </p:nvSpPr>
        <p:spPr>
          <a:xfrm>
            <a:off x="6906127" y="5590676"/>
            <a:ext cx="2342150" cy="369332"/>
          </a:xfrm>
          <a:prstGeom prst="rect">
            <a:avLst/>
          </a:prstGeom>
          <a:noFill/>
        </p:spPr>
        <p:txBody>
          <a:bodyPr wrap="square" rtlCol="0">
            <a:spAutoFit/>
          </a:bodyPr>
          <a:lstStyle/>
          <a:p>
            <a:r>
              <a:rPr kumimoji="1" lang="ja-JP" altLang="en-US" dirty="0"/>
              <a:t>データ</a:t>
            </a:r>
            <a:r>
              <a:rPr kumimoji="1" lang="en-US" altLang="ja-JP" dirty="0"/>
              <a:t>C</a:t>
            </a:r>
            <a:r>
              <a:rPr kumimoji="1" lang="ja-JP" altLang="en-US" dirty="0"/>
              <a:t>‘</a:t>
            </a:r>
            <a:r>
              <a:rPr kumimoji="1" lang="en-US" altLang="ja-JP" dirty="0"/>
              <a:t>.jpg</a:t>
            </a:r>
            <a:endParaRPr kumimoji="1" lang="ja-JP" altLang="en-US" dirty="0"/>
          </a:p>
        </p:txBody>
      </p:sp>
    </p:spTree>
    <p:extLst>
      <p:ext uri="{BB962C8B-B14F-4D97-AF65-F5344CB8AC3E}">
        <p14:creationId xmlns:p14="http://schemas.microsoft.com/office/powerpoint/2010/main" val="119874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25">
            <a:extLst>
              <a:ext uri="{FF2B5EF4-FFF2-40B4-BE49-F238E27FC236}">
                <a16:creationId xmlns:a16="http://schemas.microsoft.com/office/drawing/2014/main" id="{58558A29-5527-4CB4-9A06-A1C395B8AEC3}"/>
              </a:ext>
            </a:extLst>
          </p:cNvPr>
          <p:cNvSpPr/>
          <p:nvPr/>
        </p:nvSpPr>
        <p:spPr>
          <a:xfrm>
            <a:off x="2056580" y="2852706"/>
            <a:ext cx="8588030" cy="338895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B11E6952-EB17-480D-9FB4-D525DCD54779}"/>
              </a:ext>
            </a:extLst>
          </p:cNvPr>
          <p:cNvSpPr>
            <a:spLocks noGrp="1"/>
          </p:cNvSpPr>
          <p:nvPr>
            <p:ph type="title"/>
          </p:nvPr>
        </p:nvSpPr>
        <p:spPr>
          <a:xfrm>
            <a:off x="1097280" y="286603"/>
            <a:ext cx="10058400" cy="1450757"/>
          </a:xfrm>
        </p:spPr>
        <p:txBody>
          <a:bodyPr/>
          <a:lstStyle/>
          <a:p>
            <a:r>
              <a:rPr kumimoji="1" lang="ja-JP" altLang="en-US" dirty="0"/>
              <a:t>２</a:t>
            </a:r>
            <a:r>
              <a:rPr kumimoji="1" lang="en-US" altLang="ja-JP" dirty="0"/>
              <a:t>.</a:t>
            </a:r>
            <a:r>
              <a:rPr lang="ja-JP" altLang="en-US" dirty="0"/>
              <a:t>説明のための背景設定</a:t>
            </a:r>
            <a:endParaRPr kumimoji="1" lang="ja-JP" altLang="en-US" dirty="0"/>
          </a:p>
        </p:txBody>
      </p:sp>
      <p:sp>
        <p:nvSpPr>
          <p:cNvPr id="3" name="コンテンツ プレースホルダー 2">
            <a:extLst>
              <a:ext uri="{FF2B5EF4-FFF2-40B4-BE49-F238E27FC236}">
                <a16:creationId xmlns:a16="http://schemas.microsoft.com/office/drawing/2014/main" id="{A82E406E-050F-4D62-A9BE-BA935B5E640E}"/>
              </a:ext>
            </a:extLst>
          </p:cNvPr>
          <p:cNvSpPr>
            <a:spLocks noGrp="1"/>
          </p:cNvSpPr>
          <p:nvPr>
            <p:ph idx="1"/>
          </p:nvPr>
        </p:nvSpPr>
        <p:spPr>
          <a:xfrm>
            <a:off x="1097280" y="1845734"/>
            <a:ext cx="10485120" cy="4023360"/>
          </a:xfrm>
        </p:spPr>
        <p:txBody>
          <a:bodyPr>
            <a:normAutofit/>
          </a:bodyPr>
          <a:lstStyle/>
          <a:p>
            <a:pPr marL="0" indent="0">
              <a:buNone/>
            </a:pPr>
            <a:r>
              <a:rPr lang="ja-JP" altLang="en-US" sz="2800" dirty="0"/>
              <a:t>あるゲームがあったとして、リリース後３つのエラーが発生してしまい、それぞれのエラーに１人ずつ計３人の開発者が対応することにする。</a:t>
            </a:r>
            <a:endParaRPr kumimoji="1" lang="ja-JP" altLang="en-US" sz="2800" dirty="0"/>
          </a:p>
        </p:txBody>
      </p:sp>
      <p:pic>
        <p:nvPicPr>
          <p:cNvPr id="5" name="図 4">
            <a:extLst>
              <a:ext uri="{FF2B5EF4-FFF2-40B4-BE49-F238E27FC236}">
                <a16:creationId xmlns:a16="http://schemas.microsoft.com/office/drawing/2014/main" id="{2E1233C6-0DE3-43F7-8EE9-AB3F51FA96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3847" y="3152363"/>
            <a:ext cx="3516229" cy="2812983"/>
          </a:xfrm>
          <a:prstGeom prst="rect">
            <a:avLst/>
          </a:prstGeom>
        </p:spPr>
      </p:pic>
      <p:sp>
        <p:nvSpPr>
          <p:cNvPr id="6" name="左中かっこ 5">
            <a:extLst>
              <a:ext uri="{FF2B5EF4-FFF2-40B4-BE49-F238E27FC236}">
                <a16:creationId xmlns:a16="http://schemas.microsoft.com/office/drawing/2014/main" id="{42FC9DF8-96B2-4EED-B375-538256CE6C20}"/>
              </a:ext>
            </a:extLst>
          </p:cNvPr>
          <p:cNvSpPr/>
          <p:nvPr/>
        </p:nvSpPr>
        <p:spPr>
          <a:xfrm>
            <a:off x="6135659" y="3037101"/>
            <a:ext cx="994605" cy="303661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 name="乗算記号 6">
            <a:extLst>
              <a:ext uri="{FF2B5EF4-FFF2-40B4-BE49-F238E27FC236}">
                <a16:creationId xmlns:a16="http://schemas.microsoft.com/office/drawing/2014/main" id="{55179E28-E09D-4B2B-91BD-83A9A7FE9EF9}"/>
              </a:ext>
            </a:extLst>
          </p:cNvPr>
          <p:cNvSpPr/>
          <p:nvPr/>
        </p:nvSpPr>
        <p:spPr>
          <a:xfrm>
            <a:off x="2625625" y="3632824"/>
            <a:ext cx="689819" cy="641684"/>
          </a:xfrm>
          <a:prstGeom prst="mathMultipl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8" name="乗算記号 7">
            <a:extLst>
              <a:ext uri="{FF2B5EF4-FFF2-40B4-BE49-F238E27FC236}">
                <a16:creationId xmlns:a16="http://schemas.microsoft.com/office/drawing/2014/main" id="{B503AF30-EAFB-40AA-9B06-2CB578585213}"/>
              </a:ext>
            </a:extLst>
          </p:cNvPr>
          <p:cNvSpPr/>
          <p:nvPr/>
        </p:nvSpPr>
        <p:spPr>
          <a:xfrm>
            <a:off x="4141603" y="5042037"/>
            <a:ext cx="689819" cy="641684"/>
          </a:xfrm>
          <a:prstGeom prst="mathMultipl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9" name="乗算記号 8">
            <a:extLst>
              <a:ext uri="{FF2B5EF4-FFF2-40B4-BE49-F238E27FC236}">
                <a16:creationId xmlns:a16="http://schemas.microsoft.com/office/drawing/2014/main" id="{51FABBF4-7498-4827-9D32-11645ACE0C99}"/>
              </a:ext>
            </a:extLst>
          </p:cNvPr>
          <p:cNvSpPr/>
          <p:nvPr/>
        </p:nvSpPr>
        <p:spPr>
          <a:xfrm>
            <a:off x="4674185" y="3480560"/>
            <a:ext cx="689819" cy="641684"/>
          </a:xfrm>
          <a:prstGeom prst="mathMultipl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0" name="乗算記号 9">
            <a:extLst>
              <a:ext uri="{FF2B5EF4-FFF2-40B4-BE49-F238E27FC236}">
                <a16:creationId xmlns:a16="http://schemas.microsoft.com/office/drawing/2014/main" id="{5E64F8C9-5BA0-4507-86B9-36E2FFB6FAD5}"/>
              </a:ext>
            </a:extLst>
          </p:cNvPr>
          <p:cNvSpPr/>
          <p:nvPr/>
        </p:nvSpPr>
        <p:spPr>
          <a:xfrm>
            <a:off x="6816028" y="3152363"/>
            <a:ext cx="689819" cy="641684"/>
          </a:xfrm>
          <a:prstGeom prst="mathMultipl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1" name="乗算記号 10">
            <a:extLst>
              <a:ext uri="{FF2B5EF4-FFF2-40B4-BE49-F238E27FC236}">
                <a16:creationId xmlns:a16="http://schemas.microsoft.com/office/drawing/2014/main" id="{6D5C4115-9631-4D56-BD07-B8C8AC3145BC}"/>
              </a:ext>
            </a:extLst>
          </p:cNvPr>
          <p:cNvSpPr/>
          <p:nvPr/>
        </p:nvSpPr>
        <p:spPr>
          <a:xfrm>
            <a:off x="6816028" y="4274508"/>
            <a:ext cx="689819" cy="641684"/>
          </a:xfrm>
          <a:prstGeom prst="mathMultipl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2" name="乗算記号 11">
            <a:extLst>
              <a:ext uri="{FF2B5EF4-FFF2-40B4-BE49-F238E27FC236}">
                <a16:creationId xmlns:a16="http://schemas.microsoft.com/office/drawing/2014/main" id="{AE862237-456C-4D9E-8D92-54854FA40419}"/>
              </a:ext>
            </a:extLst>
          </p:cNvPr>
          <p:cNvSpPr/>
          <p:nvPr/>
        </p:nvSpPr>
        <p:spPr>
          <a:xfrm>
            <a:off x="6864853" y="5323662"/>
            <a:ext cx="689819" cy="641684"/>
          </a:xfrm>
          <a:prstGeom prst="mathMultipl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490A95BA-1DC6-4927-AD0A-DD58ADAB185B}"/>
              </a:ext>
            </a:extLst>
          </p:cNvPr>
          <p:cNvSpPr txBox="1"/>
          <p:nvPr/>
        </p:nvSpPr>
        <p:spPr>
          <a:xfrm>
            <a:off x="7554672" y="3115343"/>
            <a:ext cx="3467404" cy="523220"/>
          </a:xfrm>
          <a:prstGeom prst="rect">
            <a:avLst/>
          </a:prstGeom>
          <a:noFill/>
        </p:spPr>
        <p:txBody>
          <a:bodyPr wrap="square" rtlCol="0">
            <a:spAutoFit/>
          </a:bodyPr>
          <a:lstStyle/>
          <a:p>
            <a:r>
              <a:rPr kumimoji="1" lang="ja-JP" altLang="en-US" sz="2800" dirty="0"/>
              <a:t>エラーファイル</a:t>
            </a:r>
            <a:r>
              <a:rPr kumimoji="1" lang="en-US" altLang="ja-JP" sz="2800" dirty="0"/>
              <a:t>A</a:t>
            </a:r>
            <a:endParaRPr kumimoji="1" lang="ja-JP" altLang="en-US" sz="2800" dirty="0"/>
          </a:p>
        </p:txBody>
      </p:sp>
      <p:sp>
        <p:nvSpPr>
          <p:cNvPr id="14" name="テキスト ボックス 13">
            <a:extLst>
              <a:ext uri="{FF2B5EF4-FFF2-40B4-BE49-F238E27FC236}">
                <a16:creationId xmlns:a16="http://schemas.microsoft.com/office/drawing/2014/main" id="{40D0CC09-2324-4874-9B0B-A73D8773B4BC}"/>
              </a:ext>
            </a:extLst>
          </p:cNvPr>
          <p:cNvSpPr txBox="1"/>
          <p:nvPr/>
        </p:nvSpPr>
        <p:spPr>
          <a:xfrm>
            <a:off x="7586057" y="4230608"/>
            <a:ext cx="3467404" cy="523220"/>
          </a:xfrm>
          <a:prstGeom prst="rect">
            <a:avLst/>
          </a:prstGeom>
          <a:noFill/>
        </p:spPr>
        <p:txBody>
          <a:bodyPr wrap="square" rtlCol="0">
            <a:spAutoFit/>
          </a:bodyPr>
          <a:lstStyle/>
          <a:p>
            <a:r>
              <a:rPr kumimoji="1" lang="ja-JP" altLang="en-US" sz="2800" dirty="0"/>
              <a:t>エラーファイル</a:t>
            </a:r>
            <a:r>
              <a:rPr kumimoji="1" lang="en-US" altLang="ja-JP" sz="2800" dirty="0"/>
              <a:t>B</a:t>
            </a:r>
            <a:endParaRPr kumimoji="1" lang="ja-JP" altLang="en-US" sz="2800" dirty="0"/>
          </a:p>
        </p:txBody>
      </p:sp>
      <p:sp>
        <p:nvSpPr>
          <p:cNvPr id="15" name="テキスト ボックス 14">
            <a:extLst>
              <a:ext uri="{FF2B5EF4-FFF2-40B4-BE49-F238E27FC236}">
                <a16:creationId xmlns:a16="http://schemas.microsoft.com/office/drawing/2014/main" id="{E3224C88-4AF9-47FB-816A-C3ED26F542D6}"/>
              </a:ext>
            </a:extLst>
          </p:cNvPr>
          <p:cNvSpPr txBox="1"/>
          <p:nvPr/>
        </p:nvSpPr>
        <p:spPr>
          <a:xfrm>
            <a:off x="7664916" y="5381517"/>
            <a:ext cx="3467404" cy="523220"/>
          </a:xfrm>
          <a:prstGeom prst="rect">
            <a:avLst/>
          </a:prstGeom>
          <a:noFill/>
        </p:spPr>
        <p:txBody>
          <a:bodyPr wrap="square" rtlCol="0">
            <a:spAutoFit/>
          </a:bodyPr>
          <a:lstStyle/>
          <a:p>
            <a:r>
              <a:rPr kumimoji="1" lang="ja-JP" altLang="en-US" sz="2800" dirty="0"/>
              <a:t>エラーファイル</a:t>
            </a:r>
            <a:r>
              <a:rPr kumimoji="1" lang="en-US" altLang="ja-JP" sz="2800" dirty="0"/>
              <a:t>C</a:t>
            </a:r>
            <a:endParaRPr kumimoji="1" lang="ja-JP" altLang="en-US" sz="2800" dirty="0"/>
          </a:p>
        </p:txBody>
      </p:sp>
      <p:pic>
        <p:nvPicPr>
          <p:cNvPr id="17" name="図 16">
            <a:extLst>
              <a:ext uri="{FF2B5EF4-FFF2-40B4-BE49-F238E27FC236}">
                <a16:creationId xmlns:a16="http://schemas.microsoft.com/office/drawing/2014/main" id="{2B803741-39BE-4593-BFAD-BC05D98836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8222" y="2884791"/>
            <a:ext cx="1525382" cy="1144037"/>
          </a:xfrm>
          <a:prstGeom prst="rect">
            <a:avLst/>
          </a:prstGeom>
        </p:spPr>
      </p:pic>
      <p:pic>
        <p:nvPicPr>
          <p:cNvPr id="18" name="図 17">
            <a:extLst>
              <a:ext uri="{FF2B5EF4-FFF2-40B4-BE49-F238E27FC236}">
                <a16:creationId xmlns:a16="http://schemas.microsoft.com/office/drawing/2014/main" id="{8070270C-2DDC-4D0F-99B1-DE6EC16212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03172" y="4000056"/>
            <a:ext cx="1525382" cy="1144037"/>
          </a:xfrm>
          <a:prstGeom prst="rect">
            <a:avLst/>
          </a:prstGeom>
        </p:spPr>
      </p:pic>
      <p:pic>
        <p:nvPicPr>
          <p:cNvPr id="19" name="図 18">
            <a:extLst>
              <a:ext uri="{FF2B5EF4-FFF2-40B4-BE49-F238E27FC236}">
                <a16:creationId xmlns:a16="http://schemas.microsoft.com/office/drawing/2014/main" id="{9668BC73-6FB0-4F71-B0DC-0F46386188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63878" y="5129708"/>
            <a:ext cx="1525382" cy="1144037"/>
          </a:xfrm>
          <a:prstGeom prst="rect">
            <a:avLst/>
          </a:prstGeom>
        </p:spPr>
      </p:pic>
      <p:sp>
        <p:nvSpPr>
          <p:cNvPr id="20" name="矢印: 左 19">
            <a:extLst>
              <a:ext uri="{FF2B5EF4-FFF2-40B4-BE49-F238E27FC236}">
                <a16:creationId xmlns:a16="http://schemas.microsoft.com/office/drawing/2014/main" id="{2411FF6E-F746-4C97-9036-28BA777BE6D6}"/>
              </a:ext>
            </a:extLst>
          </p:cNvPr>
          <p:cNvSpPr/>
          <p:nvPr/>
        </p:nvSpPr>
        <p:spPr>
          <a:xfrm>
            <a:off x="10317144" y="5391855"/>
            <a:ext cx="870954" cy="59595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矢印: 左 20">
            <a:extLst>
              <a:ext uri="{FF2B5EF4-FFF2-40B4-BE49-F238E27FC236}">
                <a16:creationId xmlns:a16="http://schemas.microsoft.com/office/drawing/2014/main" id="{0434D569-647C-4DA2-87D5-E5814B79FCF1}"/>
              </a:ext>
            </a:extLst>
          </p:cNvPr>
          <p:cNvSpPr/>
          <p:nvPr/>
        </p:nvSpPr>
        <p:spPr>
          <a:xfrm>
            <a:off x="10322651" y="4212064"/>
            <a:ext cx="820326" cy="59595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矢印: 左 21">
            <a:extLst>
              <a:ext uri="{FF2B5EF4-FFF2-40B4-BE49-F238E27FC236}">
                <a16:creationId xmlns:a16="http://schemas.microsoft.com/office/drawing/2014/main" id="{CE714AC8-B0A7-4121-9A21-FEFBBDC4D69E}"/>
              </a:ext>
            </a:extLst>
          </p:cNvPr>
          <p:cNvSpPr/>
          <p:nvPr/>
        </p:nvSpPr>
        <p:spPr>
          <a:xfrm>
            <a:off x="10317144" y="3086332"/>
            <a:ext cx="748628" cy="59595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0D283DEE-C9F5-45A7-8409-1C8A0C90138D}"/>
              </a:ext>
            </a:extLst>
          </p:cNvPr>
          <p:cNvSpPr txBox="1"/>
          <p:nvPr/>
        </p:nvSpPr>
        <p:spPr>
          <a:xfrm>
            <a:off x="11385127" y="3086332"/>
            <a:ext cx="723789" cy="584775"/>
          </a:xfrm>
          <a:prstGeom prst="rect">
            <a:avLst/>
          </a:prstGeom>
          <a:noFill/>
        </p:spPr>
        <p:txBody>
          <a:bodyPr wrap="square" rtlCol="0">
            <a:spAutoFit/>
          </a:bodyPr>
          <a:lstStyle/>
          <a:p>
            <a:r>
              <a:rPr kumimoji="1" lang="en-US" altLang="ja-JP" sz="3200" b="1" dirty="0">
                <a:solidFill>
                  <a:srgbClr val="FF0000"/>
                </a:solidFill>
              </a:rPr>
              <a:t>A</a:t>
            </a:r>
            <a:endParaRPr kumimoji="1" lang="ja-JP" altLang="en-US" sz="3200" b="1" dirty="0">
              <a:solidFill>
                <a:srgbClr val="FF0000"/>
              </a:solidFill>
            </a:endParaRPr>
          </a:p>
        </p:txBody>
      </p:sp>
      <p:sp>
        <p:nvSpPr>
          <p:cNvPr id="24" name="テキスト ボックス 23">
            <a:extLst>
              <a:ext uri="{FF2B5EF4-FFF2-40B4-BE49-F238E27FC236}">
                <a16:creationId xmlns:a16="http://schemas.microsoft.com/office/drawing/2014/main" id="{CA949B07-C81C-43B1-AE9B-A48077403E7A}"/>
              </a:ext>
            </a:extLst>
          </p:cNvPr>
          <p:cNvSpPr txBox="1"/>
          <p:nvPr/>
        </p:nvSpPr>
        <p:spPr>
          <a:xfrm>
            <a:off x="11446203" y="4282050"/>
            <a:ext cx="723789" cy="584775"/>
          </a:xfrm>
          <a:prstGeom prst="rect">
            <a:avLst/>
          </a:prstGeom>
          <a:noFill/>
        </p:spPr>
        <p:txBody>
          <a:bodyPr wrap="square" rtlCol="0">
            <a:spAutoFit/>
          </a:bodyPr>
          <a:lstStyle/>
          <a:p>
            <a:r>
              <a:rPr kumimoji="1" lang="en-US" altLang="ja-JP" sz="3200" b="1" dirty="0">
                <a:solidFill>
                  <a:srgbClr val="00B0F0"/>
                </a:solidFill>
              </a:rPr>
              <a:t>B</a:t>
            </a:r>
            <a:endParaRPr kumimoji="1" lang="ja-JP" altLang="en-US" sz="3200" b="1" dirty="0">
              <a:solidFill>
                <a:srgbClr val="00B0F0"/>
              </a:solidFill>
            </a:endParaRPr>
          </a:p>
        </p:txBody>
      </p:sp>
      <p:sp>
        <p:nvSpPr>
          <p:cNvPr id="25" name="テキスト ボックス 24">
            <a:extLst>
              <a:ext uri="{FF2B5EF4-FFF2-40B4-BE49-F238E27FC236}">
                <a16:creationId xmlns:a16="http://schemas.microsoft.com/office/drawing/2014/main" id="{B94546B6-BC44-4995-9AED-B0AEFC7705D7}"/>
              </a:ext>
            </a:extLst>
          </p:cNvPr>
          <p:cNvSpPr txBox="1"/>
          <p:nvPr/>
        </p:nvSpPr>
        <p:spPr>
          <a:xfrm>
            <a:off x="11414119" y="5322464"/>
            <a:ext cx="723789" cy="584775"/>
          </a:xfrm>
          <a:prstGeom prst="rect">
            <a:avLst/>
          </a:prstGeom>
          <a:noFill/>
        </p:spPr>
        <p:txBody>
          <a:bodyPr wrap="square" rtlCol="0">
            <a:spAutoFit/>
          </a:bodyPr>
          <a:lstStyle/>
          <a:p>
            <a:r>
              <a:rPr kumimoji="1" lang="en-US" altLang="ja-JP" sz="3200" b="1" dirty="0">
                <a:solidFill>
                  <a:srgbClr val="FFFF00"/>
                </a:solidFill>
              </a:rPr>
              <a:t>C</a:t>
            </a:r>
            <a:endParaRPr kumimoji="1" lang="ja-JP" altLang="en-US" sz="3200" b="1" dirty="0">
              <a:solidFill>
                <a:srgbClr val="FFFF00"/>
              </a:solidFill>
            </a:endParaRPr>
          </a:p>
        </p:txBody>
      </p:sp>
      <p:sp>
        <p:nvSpPr>
          <p:cNvPr id="28" name="正方形/長方形 27">
            <a:extLst>
              <a:ext uri="{FF2B5EF4-FFF2-40B4-BE49-F238E27FC236}">
                <a16:creationId xmlns:a16="http://schemas.microsoft.com/office/drawing/2014/main" id="{6F8775AD-305F-4DBE-985D-82B73E9FF8CD}"/>
              </a:ext>
            </a:extLst>
          </p:cNvPr>
          <p:cNvSpPr/>
          <p:nvPr/>
        </p:nvSpPr>
        <p:spPr>
          <a:xfrm>
            <a:off x="2243847" y="2672838"/>
            <a:ext cx="3357160" cy="3608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8059F301-E677-4AE0-A2F3-31987C246B6B}"/>
              </a:ext>
            </a:extLst>
          </p:cNvPr>
          <p:cNvSpPr txBox="1"/>
          <p:nvPr/>
        </p:nvSpPr>
        <p:spPr>
          <a:xfrm>
            <a:off x="2654607" y="2591096"/>
            <a:ext cx="3477704" cy="523220"/>
          </a:xfrm>
          <a:prstGeom prst="rect">
            <a:avLst/>
          </a:prstGeom>
          <a:noFill/>
        </p:spPr>
        <p:txBody>
          <a:bodyPr wrap="square" rtlCol="0">
            <a:spAutoFit/>
          </a:bodyPr>
          <a:lstStyle/>
          <a:p>
            <a:r>
              <a:rPr kumimoji="1" lang="en-US" altLang="ja-JP" sz="2800" dirty="0"/>
              <a:t>master(</a:t>
            </a:r>
            <a:r>
              <a:rPr kumimoji="1" lang="ja-JP" altLang="en-US" sz="2800" dirty="0"/>
              <a:t>ブランチ名</a:t>
            </a:r>
            <a:r>
              <a:rPr kumimoji="1" lang="en-US" altLang="ja-JP" sz="2800" dirty="0"/>
              <a:t>)</a:t>
            </a:r>
          </a:p>
        </p:txBody>
      </p:sp>
      <p:pic>
        <p:nvPicPr>
          <p:cNvPr id="29" name="コンテンツ プレースホルダー 4">
            <a:extLst>
              <a:ext uri="{FF2B5EF4-FFF2-40B4-BE49-F238E27FC236}">
                <a16:creationId xmlns:a16="http://schemas.microsoft.com/office/drawing/2014/main" id="{05CDF085-372B-45E5-BBAF-A3BF078E14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990" y="4037505"/>
            <a:ext cx="1187826" cy="1187826"/>
          </a:xfrm>
          <a:prstGeom prst="rect">
            <a:avLst/>
          </a:prstGeom>
        </p:spPr>
      </p:pic>
      <p:sp>
        <p:nvSpPr>
          <p:cNvPr id="30" name="テキスト ボックス 29">
            <a:extLst>
              <a:ext uri="{FF2B5EF4-FFF2-40B4-BE49-F238E27FC236}">
                <a16:creationId xmlns:a16="http://schemas.microsoft.com/office/drawing/2014/main" id="{95CAAEC9-15CC-4597-A7C2-B135BAEF5A0D}"/>
              </a:ext>
            </a:extLst>
          </p:cNvPr>
          <p:cNvSpPr txBox="1"/>
          <p:nvPr/>
        </p:nvSpPr>
        <p:spPr>
          <a:xfrm>
            <a:off x="110175" y="3721708"/>
            <a:ext cx="1838426" cy="523220"/>
          </a:xfrm>
          <a:prstGeom prst="rect">
            <a:avLst/>
          </a:prstGeom>
          <a:noFill/>
        </p:spPr>
        <p:txBody>
          <a:bodyPr wrap="square" rtlCol="0">
            <a:spAutoFit/>
          </a:bodyPr>
          <a:lstStyle/>
          <a:p>
            <a:r>
              <a:rPr kumimoji="1" lang="ja-JP" altLang="en-US" sz="2800" dirty="0"/>
              <a:t>リポジトリ</a:t>
            </a:r>
          </a:p>
        </p:txBody>
      </p:sp>
      <p:sp>
        <p:nvSpPr>
          <p:cNvPr id="31" name="左中かっこ 30">
            <a:extLst>
              <a:ext uri="{FF2B5EF4-FFF2-40B4-BE49-F238E27FC236}">
                <a16:creationId xmlns:a16="http://schemas.microsoft.com/office/drawing/2014/main" id="{740EF5C6-4922-4A03-BAEB-17B8E043B65C}"/>
              </a:ext>
            </a:extLst>
          </p:cNvPr>
          <p:cNvSpPr/>
          <p:nvPr/>
        </p:nvSpPr>
        <p:spPr>
          <a:xfrm>
            <a:off x="1324052" y="2852707"/>
            <a:ext cx="598509" cy="338895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32" name="コンテンツ プレースホルダー 4">
            <a:extLst>
              <a:ext uri="{FF2B5EF4-FFF2-40B4-BE49-F238E27FC236}">
                <a16:creationId xmlns:a16="http://schemas.microsoft.com/office/drawing/2014/main" id="{4C7BB273-39C8-43CD-BEC0-033C076228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25835" y="2668083"/>
            <a:ext cx="355944" cy="355944"/>
          </a:xfrm>
          <a:prstGeom prst="rect">
            <a:avLst/>
          </a:prstGeom>
        </p:spPr>
      </p:pic>
    </p:spTree>
    <p:extLst>
      <p:ext uri="{BB962C8B-B14F-4D97-AF65-F5344CB8AC3E}">
        <p14:creationId xmlns:p14="http://schemas.microsoft.com/office/powerpoint/2010/main" val="3311609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289D79-D7C4-4BEE-B691-F78381BCAC41}"/>
              </a:ext>
            </a:extLst>
          </p:cNvPr>
          <p:cNvSpPr>
            <a:spLocks noGrp="1"/>
          </p:cNvSpPr>
          <p:nvPr>
            <p:ph type="title"/>
          </p:nvPr>
        </p:nvSpPr>
        <p:spPr/>
        <p:txBody>
          <a:bodyPr/>
          <a:lstStyle/>
          <a:p>
            <a:r>
              <a:rPr lang="ja-JP" altLang="en-US" dirty="0"/>
              <a:t>３</a:t>
            </a:r>
            <a:r>
              <a:rPr lang="en-US" altLang="ja-JP" dirty="0"/>
              <a:t>.A</a:t>
            </a:r>
            <a:r>
              <a:rPr lang="ja-JP" altLang="en-US" dirty="0" err="1"/>
              <a:t>さんの</a:t>
            </a:r>
            <a:r>
              <a:rPr lang="ja-JP" altLang="en-US" dirty="0"/>
              <a:t>現状（そのほかの人も同様）</a:t>
            </a:r>
            <a:endParaRPr kumimoji="1" lang="ja-JP" altLang="en-US" dirty="0"/>
          </a:p>
        </p:txBody>
      </p:sp>
      <p:sp>
        <p:nvSpPr>
          <p:cNvPr id="3" name="コンテンツ プレースホルダー 2">
            <a:extLst>
              <a:ext uri="{FF2B5EF4-FFF2-40B4-BE49-F238E27FC236}">
                <a16:creationId xmlns:a16="http://schemas.microsoft.com/office/drawing/2014/main" id="{45B8F2B0-3DEA-47EE-AFF1-CF79C5B86D23}"/>
              </a:ext>
            </a:extLst>
          </p:cNvPr>
          <p:cNvSpPr>
            <a:spLocks noGrp="1"/>
          </p:cNvSpPr>
          <p:nvPr>
            <p:ph idx="1"/>
          </p:nvPr>
        </p:nvSpPr>
        <p:spPr/>
        <p:txBody>
          <a:bodyPr>
            <a:normAutofit/>
          </a:bodyPr>
          <a:lstStyle/>
          <a:p>
            <a:r>
              <a:rPr kumimoji="1" lang="en-US" altLang="ja-JP" sz="2800" dirty="0"/>
              <a:t>A</a:t>
            </a:r>
            <a:r>
              <a:rPr kumimoji="1" lang="ja-JP" altLang="en-US" sz="2800" dirty="0" err="1"/>
              <a:t>さん</a:t>
            </a:r>
            <a:r>
              <a:rPr lang="ja-JP" altLang="en-US" sz="2800" dirty="0" err="1"/>
              <a:t>の</a:t>
            </a:r>
            <a:r>
              <a:rPr kumimoji="1" lang="ja-JP" altLang="en-US" sz="2800" dirty="0"/>
              <a:t>行動を見ていく。現在</a:t>
            </a:r>
            <a:r>
              <a:rPr kumimoji="1" lang="en-US" altLang="ja-JP" sz="2800" dirty="0"/>
              <a:t>A</a:t>
            </a:r>
            <a:r>
              <a:rPr kumimoji="1" lang="ja-JP" altLang="en-US" sz="2800" dirty="0" err="1"/>
              <a:t>さんが</a:t>
            </a:r>
            <a:r>
              <a:rPr kumimoji="1" lang="ja-JP" altLang="en-US" sz="2800" dirty="0"/>
              <a:t>見ている状況は以下の感じ</a:t>
            </a:r>
          </a:p>
        </p:txBody>
      </p:sp>
      <p:pic>
        <p:nvPicPr>
          <p:cNvPr id="4" name="図 3">
            <a:extLst>
              <a:ext uri="{FF2B5EF4-FFF2-40B4-BE49-F238E27FC236}">
                <a16:creationId xmlns:a16="http://schemas.microsoft.com/office/drawing/2014/main" id="{D4BA88D1-C7C4-40B1-B52C-414EFF1FCD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873" y="2470029"/>
            <a:ext cx="1525382" cy="1144037"/>
          </a:xfrm>
          <a:prstGeom prst="rect">
            <a:avLst/>
          </a:prstGeom>
        </p:spPr>
      </p:pic>
      <p:sp>
        <p:nvSpPr>
          <p:cNvPr id="5" name="テキスト ボックス 4">
            <a:extLst>
              <a:ext uri="{FF2B5EF4-FFF2-40B4-BE49-F238E27FC236}">
                <a16:creationId xmlns:a16="http://schemas.microsoft.com/office/drawing/2014/main" id="{E34BC7A1-EE32-4258-8486-E3060771D21A}"/>
              </a:ext>
            </a:extLst>
          </p:cNvPr>
          <p:cNvSpPr txBox="1"/>
          <p:nvPr/>
        </p:nvSpPr>
        <p:spPr>
          <a:xfrm>
            <a:off x="1426778" y="2671570"/>
            <a:ext cx="723789" cy="584775"/>
          </a:xfrm>
          <a:prstGeom prst="rect">
            <a:avLst/>
          </a:prstGeom>
          <a:noFill/>
        </p:spPr>
        <p:txBody>
          <a:bodyPr wrap="square" rtlCol="0">
            <a:spAutoFit/>
          </a:bodyPr>
          <a:lstStyle/>
          <a:p>
            <a:r>
              <a:rPr kumimoji="1" lang="en-US" altLang="ja-JP" sz="3200" b="1" dirty="0">
                <a:solidFill>
                  <a:srgbClr val="FF0000"/>
                </a:solidFill>
              </a:rPr>
              <a:t>A</a:t>
            </a:r>
            <a:endParaRPr kumimoji="1" lang="ja-JP" altLang="en-US" sz="3200" b="1" dirty="0">
              <a:solidFill>
                <a:srgbClr val="FF0000"/>
              </a:solidFill>
            </a:endParaRPr>
          </a:p>
        </p:txBody>
      </p:sp>
      <p:pic>
        <p:nvPicPr>
          <p:cNvPr id="7" name="図 6" descr="gitTest">
            <a:extLst>
              <a:ext uri="{FF2B5EF4-FFF2-40B4-BE49-F238E27FC236}">
                <a16:creationId xmlns:a16="http://schemas.microsoft.com/office/drawing/2014/main" id="{4D8315A0-02FE-432F-8334-71088FC03E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8320" y="2316247"/>
            <a:ext cx="4072357" cy="1703430"/>
          </a:xfrm>
          <a:prstGeom prst="rect">
            <a:avLst/>
          </a:prstGeom>
        </p:spPr>
      </p:pic>
      <p:sp>
        <p:nvSpPr>
          <p:cNvPr id="8" name="左中かっこ 7">
            <a:extLst>
              <a:ext uri="{FF2B5EF4-FFF2-40B4-BE49-F238E27FC236}">
                <a16:creationId xmlns:a16="http://schemas.microsoft.com/office/drawing/2014/main" id="{60180E65-E854-4D31-B9AD-86D46D6CEC49}"/>
              </a:ext>
            </a:extLst>
          </p:cNvPr>
          <p:cNvSpPr/>
          <p:nvPr/>
        </p:nvSpPr>
        <p:spPr>
          <a:xfrm>
            <a:off x="6531810" y="2316247"/>
            <a:ext cx="655999" cy="197429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10" name="図 9" descr="game">
            <a:extLst>
              <a:ext uri="{FF2B5EF4-FFF2-40B4-BE49-F238E27FC236}">
                <a16:creationId xmlns:a16="http://schemas.microsoft.com/office/drawing/2014/main" id="{EBBE2BDB-858C-43CD-895B-BB65B598D0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08579" y="2235222"/>
            <a:ext cx="4889639" cy="1784455"/>
          </a:xfrm>
          <a:prstGeom prst="rect">
            <a:avLst/>
          </a:prstGeom>
        </p:spPr>
      </p:pic>
      <p:sp>
        <p:nvSpPr>
          <p:cNvPr id="11" name="テキスト ボックス 10">
            <a:extLst>
              <a:ext uri="{FF2B5EF4-FFF2-40B4-BE49-F238E27FC236}">
                <a16:creationId xmlns:a16="http://schemas.microsoft.com/office/drawing/2014/main" id="{3E1CCCCF-398A-4675-9EE6-F01F5E4EF6F3}"/>
              </a:ext>
            </a:extLst>
          </p:cNvPr>
          <p:cNvSpPr txBox="1"/>
          <p:nvPr/>
        </p:nvSpPr>
        <p:spPr>
          <a:xfrm>
            <a:off x="7208580" y="3962400"/>
            <a:ext cx="2863055" cy="369332"/>
          </a:xfrm>
          <a:prstGeom prst="rect">
            <a:avLst/>
          </a:prstGeom>
          <a:noFill/>
        </p:spPr>
        <p:txBody>
          <a:bodyPr wrap="square" rtlCol="0">
            <a:spAutoFit/>
          </a:bodyPr>
          <a:lstStyle/>
          <a:p>
            <a:r>
              <a:rPr kumimoji="1" lang="ja-JP" altLang="en-US" dirty="0"/>
              <a:t>左の「</a:t>
            </a:r>
            <a:r>
              <a:rPr kumimoji="1" lang="en-US" altLang="ja-JP" dirty="0"/>
              <a:t>game</a:t>
            </a:r>
            <a:r>
              <a:rPr kumimoji="1" lang="ja-JP" altLang="en-US" dirty="0"/>
              <a:t>」フォルダ内</a:t>
            </a:r>
          </a:p>
        </p:txBody>
      </p:sp>
      <p:pic>
        <p:nvPicPr>
          <p:cNvPr id="13" name="図 12" descr="fileA.txt - メモ帳">
            <a:extLst>
              <a:ext uri="{FF2B5EF4-FFF2-40B4-BE49-F238E27FC236}">
                <a16:creationId xmlns:a16="http://schemas.microsoft.com/office/drawing/2014/main" id="{40B3EB3D-002C-429E-BFB8-8A9862C69A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14636" y="4541288"/>
            <a:ext cx="2144277" cy="1578553"/>
          </a:xfrm>
          <a:prstGeom prst="rect">
            <a:avLst/>
          </a:prstGeom>
        </p:spPr>
      </p:pic>
      <p:sp>
        <p:nvSpPr>
          <p:cNvPr id="14" name="テキスト ボックス 13">
            <a:extLst>
              <a:ext uri="{FF2B5EF4-FFF2-40B4-BE49-F238E27FC236}">
                <a16:creationId xmlns:a16="http://schemas.microsoft.com/office/drawing/2014/main" id="{00A05430-0182-4789-A4E3-83326626DBCA}"/>
              </a:ext>
            </a:extLst>
          </p:cNvPr>
          <p:cNvSpPr txBox="1"/>
          <p:nvPr/>
        </p:nvSpPr>
        <p:spPr>
          <a:xfrm>
            <a:off x="9158913" y="5465022"/>
            <a:ext cx="2863055" cy="369332"/>
          </a:xfrm>
          <a:prstGeom prst="rect">
            <a:avLst/>
          </a:prstGeom>
          <a:noFill/>
        </p:spPr>
        <p:txBody>
          <a:bodyPr wrap="square" rtlCol="0">
            <a:spAutoFit/>
          </a:bodyPr>
          <a:lstStyle/>
          <a:p>
            <a:r>
              <a:rPr kumimoji="1" lang="ja-JP" altLang="en-US" dirty="0"/>
              <a:t>上の「</a:t>
            </a:r>
            <a:r>
              <a:rPr kumimoji="1" lang="en-US" altLang="ja-JP" dirty="0"/>
              <a:t>fileA.txt</a:t>
            </a:r>
            <a:r>
              <a:rPr kumimoji="1" lang="ja-JP" altLang="en-US" dirty="0"/>
              <a:t>」の中身</a:t>
            </a:r>
          </a:p>
        </p:txBody>
      </p:sp>
      <p:pic>
        <p:nvPicPr>
          <p:cNvPr id="16" name="図 15" descr="コマンド プロンプト">
            <a:extLst>
              <a:ext uri="{FF2B5EF4-FFF2-40B4-BE49-F238E27FC236}">
                <a16:creationId xmlns:a16="http://schemas.microsoft.com/office/drawing/2014/main" id="{E4C86B75-A427-4ED5-A07D-51380A2EE45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87439" y="4501191"/>
            <a:ext cx="4013765" cy="1744202"/>
          </a:xfrm>
          <a:prstGeom prst="rect">
            <a:avLst/>
          </a:prstGeom>
        </p:spPr>
      </p:pic>
      <p:sp>
        <p:nvSpPr>
          <p:cNvPr id="17" name="テキスト ボックス 16">
            <a:extLst>
              <a:ext uri="{FF2B5EF4-FFF2-40B4-BE49-F238E27FC236}">
                <a16:creationId xmlns:a16="http://schemas.microsoft.com/office/drawing/2014/main" id="{72BCC739-E7B8-4811-8822-332D2D62E7EE}"/>
              </a:ext>
            </a:extLst>
          </p:cNvPr>
          <p:cNvSpPr txBox="1"/>
          <p:nvPr/>
        </p:nvSpPr>
        <p:spPr>
          <a:xfrm>
            <a:off x="1097280" y="4100703"/>
            <a:ext cx="4709489" cy="369332"/>
          </a:xfrm>
          <a:prstGeom prst="rect">
            <a:avLst/>
          </a:prstGeom>
          <a:noFill/>
        </p:spPr>
        <p:txBody>
          <a:bodyPr wrap="square" rtlCol="0">
            <a:spAutoFit/>
          </a:bodyPr>
          <a:lstStyle/>
          <a:p>
            <a:r>
              <a:rPr kumimoji="1" lang="ja-JP" altLang="en-US" dirty="0"/>
              <a:t>コマンド「</a:t>
            </a:r>
            <a:r>
              <a:rPr kumimoji="1" lang="en-US" altLang="ja-JP" dirty="0"/>
              <a:t>git branch –a</a:t>
            </a:r>
            <a:r>
              <a:rPr kumimoji="1" lang="ja-JP" altLang="en-US" dirty="0"/>
              <a:t>」で見たブランチ（</a:t>
            </a:r>
            <a:r>
              <a:rPr kumimoji="1" lang="ja-JP" altLang="en-US" dirty="0">
                <a:solidFill>
                  <a:srgbClr val="00B050"/>
                </a:solidFill>
              </a:rPr>
              <a:t>緑</a:t>
            </a:r>
            <a:r>
              <a:rPr kumimoji="1" lang="ja-JP" altLang="en-US" dirty="0"/>
              <a:t>・</a:t>
            </a:r>
            <a:r>
              <a:rPr kumimoji="1" lang="ja-JP" altLang="en-US" dirty="0">
                <a:solidFill>
                  <a:srgbClr val="FF0000"/>
                </a:solidFill>
              </a:rPr>
              <a:t>赤</a:t>
            </a:r>
            <a:r>
              <a:rPr kumimoji="1" lang="ja-JP" altLang="en-US" dirty="0"/>
              <a:t>）</a:t>
            </a:r>
          </a:p>
        </p:txBody>
      </p:sp>
    </p:spTree>
    <p:extLst>
      <p:ext uri="{BB962C8B-B14F-4D97-AF65-F5344CB8AC3E}">
        <p14:creationId xmlns:p14="http://schemas.microsoft.com/office/powerpoint/2010/main" val="157742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9B7F2C-875E-4439-908F-525277EB0F9A}"/>
              </a:ext>
            </a:extLst>
          </p:cNvPr>
          <p:cNvSpPr>
            <a:spLocks noGrp="1"/>
          </p:cNvSpPr>
          <p:nvPr>
            <p:ph type="title"/>
          </p:nvPr>
        </p:nvSpPr>
        <p:spPr/>
        <p:txBody>
          <a:bodyPr/>
          <a:lstStyle/>
          <a:p>
            <a:r>
              <a:rPr lang="ja-JP" altLang="en-US" dirty="0"/>
              <a:t>４</a:t>
            </a:r>
            <a:r>
              <a:rPr kumimoji="1" lang="ja-JP" altLang="en-US" dirty="0"/>
              <a:t>．ローカルブランチ作成</a:t>
            </a:r>
          </a:p>
        </p:txBody>
      </p:sp>
      <p:pic>
        <p:nvPicPr>
          <p:cNvPr id="5" name="コンテンツ プレースホルダー 4" descr="選択コマンド プロンプト">
            <a:extLst>
              <a:ext uri="{FF2B5EF4-FFF2-40B4-BE49-F238E27FC236}">
                <a16:creationId xmlns:a16="http://schemas.microsoft.com/office/drawing/2014/main" id="{D77409E1-56F3-4268-A301-481C0527BCB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6037" y="3762002"/>
            <a:ext cx="4148287" cy="1705079"/>
          </a:xfrm>
        </p:spPr>
      </p:pic>
      <p:sp>
        <p:nvSpPr>
          <p:cNvPr id="6" name="テキスト ボックス 5">
            <a:extLst>
              <a:ext uri="{FF2B5EF4-FFF2-40B4-BE49-F238E27FC236}">
                <a16:creationId xmlns:a16="http://schemas.microsoft.com/office/drawing/2014/main" id="{1D7F0963-5FEB-4A35-ABB0-2828FC562B8E}"/>
              </a:ext>
            </a:extLst>
          </p:cNvPr>
          <p:cNvSpPr txBox="1"/>
          <p:nvPr/>
        </p:nvSpPr>
        <p:spPr>
          <a:xfrm>
            <a:off x="6111240" y="2063039"/>
            <a:ext cx="5451996" cy="3539430"/>
          </a:xfrm>
          <a:prstGeom prst="rect">
            <a:avLst/>
          </a:prstGeom>
          <a:noFill/>
        </p:spPr>
        <p:txBody>
          <a:bodyPr wrap="square" rtlCol="0">
            <a:spAutoFit/>
          </a:bodyPr>
          <a:lstStyle/>
          <a:p>
            <a:r>
              <a:rPr kumimoji="1" lang="ja-JP" altLang="en-US" sz="2800" dirty="0"/>
              <a:t>コマンド「</a:t>
            </a:r>
            <a:r>
              <a:rPr kumimoji="1" lang="en-US" altLang="ja-JP" sz="2800" dirty="0"/>
              <a:t>git checkout –b </a:t>
            </a:r>
            <a:r>
              <a:rPr kumimoji="1" lang="en-US" altLang="ja-JP" sz="2800" dirty="0" err="1"/>
              <a:t>branchA</a:t>
            </a:r>
            <a:r>
              <a:rPr kumimoji="1" lang="ja-JP" altLang="en-US" sz="2800" dirty="0"/>
              <a:t>」で「</a:t>
            </a:r>
            <a:r>
              <a:rPr kumimoji="1" lang="en-US" altLang="ja-JP" sz="2800" dirty="0" err="1"/>
              <a:t>branchA</a:t>
            </a:r>
            <a:r>
              <a:rPr kumimoji="1" lang="ja-JP" altLang="en-US" sz="2800" dirty="0"/>
              <a:t>」という名前のローカルブランチ作成。</a:t>
            </a:r>
            <a:endParaRPr kumimoji="1" lang="en-US" altLang="ja-JP" sz="2800" dirty="0"/>
          </a:p>
          <a:p>
            <a:endParaRPr kumimoji="1" lang="en-US" altLang="ja-JP" sz="2800" dirty="0"/>
          </a:p>
          <a:p>
            <a:r>
              <a:rPr kumimoji="1" lang="ja-JP" altLang="en-US" sz="2800" dirty="0"/>
              <a:t>そしてコマンド「</a:t>
            </a:r>
            <a:r>
              <a:rPr kumimoji="1" lang="en-US" altLang="ja-JP" sz="2800" dirty="0"/>
              <a:t>git branch –a</a:t>
            </a:r>
            <a:r>
              <a:rPr kumimoji="1" lang="ja-JP" altLang="en-US" sz="2800" dirty="0"/>
              <a:t>」でブランチを確認すると左下の画像のように「</a:t>
            </a:r>
            <a:r>
              <a:rPr kumimoji="1" lang="en-US" altLang="ja-JP" sz="2800" dirty="0" err="1"/>
              <a:t>branchA</a:t>
            </a:r>
            <a:r>
              <a:rPr kumimoji="1" lang="ja-JP" altLang="en-US" sz="2800" dirty="0"/>
              <a:t>」が新しくできて</a:t>
            </a:r>
            <a:r>
              <a:rPr kumimoji="1" lang="ja-JP" altLang="en-US" sz="2800" dirty="0">
                <a:solidFill>
                  <a:srgbClr val="00B050"/>
                </a:solidFill>
              </a:rPr>
              <a:t>緑色</a:t>
            </a:r>
            <a:r>
              <a:rPr kumimoji="1" lang="ja-JP" altLang="en-US" sz="2800" dirty="0"/>
              <a:t>になっている</a:t>
            </a:r>
            <a:endParaRPr kumimoji="1" lang="en-US" altLang="ja-JP" sz="2800" dirty="0"/>
          </a:p>
        </p:txBody>
      </p:sp>
      <p:pic>
        <p:nvPicPr>
          <p:cNvPr id="7" name="図 6">
            <a:extLst>
              <a:ext uri="{FF2B5EF4-FFF2-40B4-BE49-F238E27FC236}">
                <a16:creationId xmlns:a16="http://schemas.microsoft.com/office/drawing/2014/main" id="{A21721C9-1967-404A-880F-DB39512309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59" y="2253900"/>
            <a:ext cx="1525382" cy="1144037"/>
          </a:xfrm>
          <a:prstGeom prst="rect">
            <a:avLst/>
          </a:prstGeom>
        </p:spPr>
      </p:pic>
      <p:sp>
        <p:nvSpPr>
          <p:cNvPr id="8" name="テキスト ボックス 7">
            <a:extLst>
              <a:ext uri="{FF2B5EF4-FFF2-40B4-BE49-F238E27FC236}">
                <a16:creationId xmlns:a16="http://schemas.microsoft.com/office/drawing/2014/main" id="{E8CA853A-4177-41E0-B6A3-819C86BEE516}"/>
              </a:ext>
            </a:extLst>
          </p:cNvPr>
          <p:cNvSpPr txBox="1"/>
          <p:nvPr/>
        </p:nvSpPr>
        <p:spPr>
          <a:xfrm>
            <a:off x="628764" y="2455441"/>
            <a:ext cx="723789" cy="584775"/>
          </a:xfrm>
          <a:prstGeom prst="rect">
            <a:avLst/>
          </a:prstGeom>
          <a:noFill/>
        </p:spPr>
        <p:txBody>
          <a:bodyPr wrap="square" rtlCol="0">
            <a:spAutoFit/>
          </a:bodyPr>
          <a:lstStyle/>
          <a:p>
            <a:r>
              <a:rPr kumimoji="1" lang="en-US" altLang="ja-JP" sz="3200" b="1" dirty="0">
                <a:solidFill>
                  <a:srgbClr val="FF0000"/>
                </a:solidFill>
              </a:rPr>
              <a:t>A</a:t>
            </a:r>
            <a:endParaRPr kumimoji="1" lang="ja-JP" altLang="en-US" sz="3200" b="1" dirty="0">
              <a:solidFill>
                <a:srgbClr val="FF0000"/>
              </a:solidFill>
            </a:endParaRPr>
          </a:p>
        </p:txBody>
      </p:sp>
      <p:sp>
        <p:nvSpPr>
          <p:cNvPr id="9" name="テキスト ボックス 8">
            <a:extLst>
              <a:ext uri="{FF2B5EF4-FFF2-40B4-BE49-F238E27FC236}">
                <a16:creationId xmlns:a16="http://schemas.microsoft.com/office/drawing/2014/main" id="{253844E9-E4BC-4238-9BA2-B2775E6D43B6}"/>
              </a:ext>
            </a:extLst>
          </p:cNvPr>
          <p:cNvSpPr txBox="1"/>
          <p:nvPr/>
        </p:nvSpPr>
        <p:spPr>
          <a:xfrm>
            <a:off x="1352553" y="5452731"/>
            <a:ext cx="4728208" cy="923330"/>
          </a:xfrm>
          <a:prstGeom prst="rect">
            <a:avLst/>
          </a:prstGeom>
          <a:noFill/>
        </p:spPr>
        <p:txBody>
          <a:bodyPr wrap="square" rtlCol="0">
            <a:spAutoFit/>
          </a:bodyPr>
          <a:lstStyle/>
          <a:p>
            <a:r>
              <a:rPr kumimoji="1" lang="ja-JP" altLang="en-US" dirty="0">
                <a:solidFill>
                  <a:srgbClr val="00B050"/>
                </a:solidFill>
              </a:rPr>
              <a:t>緑</a:t>
            </a:r>
            <a:r>
              <a:rPr kumimoji="1" lang="ja-JP" altLang="en-US" dirty="0"/>
              <a:t>が今いるローカルブランチ（</a:t>
            </a:r>
            <a:r>
              <a:rPr kumimoji="1" lang="ja-JP" altLang="en-US" dirty="0">
                <a:solidFill>
                  <a:srgbClr val="00B050"/>
                </a:solidFill>
              </a:rPr>
              <a:t>カレントブランチ</a:t>
            </a:r>
            <a:r>
              <a:rPr kumimoji="1" lang="ja-JP" altLang="en-US" dirty="0"/>
              <a:t>）</a:t>
            </a:r>
            <a:endParaRPr kumimoji="1" lang="en-US" altLang="ja-JP" dirty="0"/>
          </a:p>
          <a:p>
            <a:r>
              <a:rPr kumimoji="1" lang="ja-JP" altLang="en-US" dirty="0"/>
              <a:t>白は他のローカルブランチ</a:t>
            </a:r>
            <a:endParaRPr kumimoji="1" lang="en-US" altLang="ja-JP" dirty="0"/>
          </a:p>
          <a:p>
            <a:r>
              <a:rPr kumimoji="1" lang="ja-JP" altLang="en-US" dirty="0">
                <a:solidFill>
                  <a:srgbClr val="FF0000"/>
                </a:solidFill>
              </a:rPr>
              <a:t>赤</a:t>
            </a:r>
            <a:r>
              <a:rPr kumimoji="1" lang="ja-JP" altLang="en-US" dirty="0"/>
              <a:t>は</a:t>
            </a:r>
            <a:r>
              <a:rPr kumimoji="1" lang="ja-JP" altLang="en-US" dirty="0">
                <a:solidFill>
                  <a:srgbClr val="FF0000"/>
                </a:solidFill>
              </a:rPr>
              <a:t>リモート追跡ブランチ</a:t>
            </a:r>
            <a:r>
              <a:rPr kumimoji="1" lang="ja-JP" altLang="en-US" dirty="0"/>
              <a:t>（詳細は後述）</a:t>
            </a:r>
            <a:endParaRPr kumimoji="1" lang="en-US" altLang="ja-JP" dirty="0"/>
          </a:p>
        </p:txBody>
      </p:sp>
      <p:pic>
        <p:nvPicPr>
          <p:cNvPr id="10" name="図 9" descr="コマンド プロンプト">
            <a:extLst>
              <a:ext uri="{FF2B5EF4-FFF2-40B4-BE49-F238E27FC236}">
                <a16:creationId xmlns:a16="http://schemas.microsoft.com/office/drawing/2014/main" id="{262B472F-8B99-487A-BB4F-616411CE45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58959" y="1737360"/>
            <a:ext cx="4013765" cy="1744202"/>
          </a:xfrm>
          <a:prstGeom prst="rect">
            <a:avLst/>
          </a:prstGeom>
        </p:spPr>
      </p:pic>
      <p:sp>
        <p:nvSpPr>
          <p:cNvPr id="3" name="矢印: 下 2">
            <a:extLst>
              <a:ext uri="{FF2B5EF4-FFF2-40B4-BE49-F238E27FC236}">
                <a16:creationId xmlns:a16="http://schemas.microsoft.com/office/drawing/2014/main" id="{276E6F41-C5B6-412F-A769-4274CFEB3362}"/>
              </a:ext>
            </a:extLst>
          </p:cNvPr>
          <p:cNvSpPr/>
          <p:nvPr/>
        </p:nvSpPr>
        <p:spPr>
          <a:xfrm>
            <a:off x="3148766" y="3481562"/>
            <a:ext cx="431258" cy="5117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73208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863B43-8F4B-4CB7-84AC-57814BE61B0A}"/>
              </a:ext>
            </a:extLst>
          </p:cNvPr>
          <p:cNvSpPr>
            <a:spLocks noGrp="1"/>
          </p:cNvSpPr>
          <p:nvPr>
            <p:ph type="title"/>
          </p:nvPr>
        </p:nvSpPr>
        <p:spPr/>
        <p:txBody>
          <a:bodyPr/>
          <a:lstStyle/>
          <a:p>
            <a:r>
              <a:rPr lang="ja-JP" altLang="en-US" dirty="0"/>
              <a:t>５</a:t>
            </a:r>
            <a:r>
              <a:rPr kumimoji="1" lang="ja-JP" altLang="en-US" dirty="0"/>
              <a:t>．リモートブランチ作成</a:t>
            </a:r>
          </a:p>
        </p:txBody>
      </p:sp>
      <p:sp>
        <p:nvSpPr>
          <p:cNvPr id="3" name="コンテンツ プレースホルダー 2">
            <a:extLst>
              <a:ext uri="{FF2B5EF4-FFF2-40B4-BE49-F238E27FC236}">
                <a16:creationId xmlns:a16="http://schemas.microsoft.com/office/drawing/2014/main" id="{BF6D0C72-B731-4631-A10D-7B23422EBAD4}"/>
              </a:ext>
            </a:extLst>
          </p:cNvPr>
          <p:cNvSpPr>
            <a:spLocks noGrp="1"/>
          </p:cNvSpPr>
          <p:nvPr>
            <p:ph idx="1"/>
          </p:nvPr>
        </p:nvSpPr>
        <p:spPr>
          <a:xfrm>
            <a:off x="6428504" y="1962110"/>
            <a:ext cx="5059680" cy="4023360"/>
          </a:xfrm>
        </p:spPr>
        <p:txBody>
          <a:bodyPr>
            <a:normAutofit/>
          </a:bodyPr>
          <a:lstStyle/>
          <a:p>
            <a:pPr marL="0" indent="0">
              <a:buNone/>
            </a:pPr>
            <a:r>
              <a:rPr kumimoji="1" lang="ja-JP" altLang="en-US" sz="2800" dirty="0"/>
              <a:t>コマンド「</a:t>
            </a:r>
            <a:r>
              <a:rPr lang="en-US" altLang="ja-JP" sz="2800" dirty="0"/>
              <a:t>git push -u origin </a:t>
            </a:r>
            <a:r>
              <a:rPr lang="en-US" altLang="ja-JP" sz="2800" dirty="0" err="1"/>
              <a:t>branchA</a:t>
            </a:r>
            <a:r>
              <a:rPr kumimoji="1" lang="ja-JP" altLang="en-US" sz="2800" dirty="0"/>
              <a:t>」でリモートリポジトリにブランチを作る。</a:t>
            </a:r>
            <a:endParaRPr kumimoji="1" lang="en-US" altLang="ja-JP" sz="2800" dirty="0"/>
          </a:p>
          <a:p>
            <a:pPr marL="0" indent="0">
              <a:buNone/>
            </a:pPr>
            <a:endParaRPr lang="en-US" altLang="ja-JP" sz="2800" dirty="0"/>
          </a:p>
          <a:p>
            <a:pPr marL="0" indent="0">
              <a:buNone/>
            </a:pPr>
            <a:r>
              <a:rPr kumimoji="1" lang="ja-JP" altLang="en-US" sz="2800" dirty="0"/>
              <a:t>再び「</a:t>
            </a:r>
            <a:r>
              <a:rPr kumimoji="1" lang="en-US" altLang="ja-JP" sz="2800" dirty="0"/>
              <a:t>git branch –a</a:t>
            </a:r>
            <a:r>
              <a:rPr kumimoji="1" lang="ja-JP" altLang="en-US" sz="2800" dirty="0"/>
              <a:t>」で確認すると左のように</a:t>
            </a:r>
            <a:r>
              <a:rPr kumimoji="1" lang="ja-JP" altLang="en-US" sz="2800" dirty="0">
                <a:solidFill>
                  <a:srgbClr val="FF0000"/>
                </a:solidFill>
              </a:rPr>
              <a:t>赤い</a:t>
            </a:r>
            <a:r>
              <a:rPr kumimoji="1" lang="ja-JP" altLang="en-US" sz="2800" dirty="0"/>
              <a:t>ブランチ</a:t>
            </a:r>
            <a:r>
              <a:rPr kumimoji="1" lang="en-US" altLang="ja-JP" sz="2800" dirty="0"/>
              <a:t>(</a:t>
            </a:r>
            <a:r>
              <a:rPr kumimoji="1" lang="ja-JP" altLang="en-US" sz="2800" dirty="0">
                <a:solidFill>
                  <a:srgbClr val="FF0000"/>
                </a:solidFill>
              </a:rPr>
              <a:t>リモート追跡ブランチ</a:t>
            </a:r>
            <a:r>
              <a:rPr kumimoji="1" lang="en-US" altLang="ja-JP" sz="2800" dirty="0"/>
              <a:t>)</a:t>
            </a:r>
            <a:r>
              <a:rPr kumimoji="1" lang="ja-JP" altLang="en-US" sz="2800" dirty="0"/>
              <a:t>が増えていることが分かる</a:t>
            </a:r>
          </a:p>
        </p:txBody>
      </p:sp>
      <p:pic>
        <p:nvPicPr>
          <p:cNvPr id="5" name="図 4" descr="選択コマンド プロンプト">
            <a:extLst>
              <a:ext uri="{FF2B5EF4-FFF2-40B4-BE49-F238E27FC236}">
                <a16:creationId xmlns:a16="http://schemas.microsoft.com/office/drawing/2014/main" id="{DBD1F3F8-4FE5-442C-A740-293688CA60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874" y="3307688"/>
            <a:ext cx="6162309" cy="2505200"/>
          </a:xfrm>
          <a:prstGeom prst="rect">
            <a:avLst/>
          </a:prstGeom>
        </p:spPr>
      </p:pic>
      <p:pic>
        <p:nvPicPr>
          <p:cNvPr id="6" name="図 5">
            <a:extLst>
              <a:ext uri="{FF2B5EF4-FFF2-40B4-BE49-F238E27FC236}">
                <a16:creationId xmlns:a16="http://schemas.microsoft.com/office/drawing/2014/main" id="{4CEE2200-009E-4A30-B521-5B296FDC6B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1925" y="1962110"/>
            <a:ext cx="1525382" cy="1144037"/>
          </a:xfrm>
          <a:prstGeom prst="rect">
            <a:avLst/>
          </a:prstGeom>
        </p:spPr>
      </p:pic>
      <p:sp>
        <p:nvSpPr>
          <p:cNvPr id="7" name="テキスト ボックス 6">
            <a:extLst>
              <a:ext uri="{FF2B5EF4-FFF2-40B4-BE49-F238E27FC236}">
                <a16:creationId xmlns:a16="http://schemas.microsoft.com/office/drawing/2014/main" id="{D12C8FB3-04C4-4FE4-8EE0-84140E076A64}"/>
              </a:ext>
            </a:extLst>
          </p:cNvPr>
          <p:cNvSpPr txBox="1"/>
          <p:nvPr/>
        </p:nvSpPr>
        <p:spPr>
          <a:xfrm>
            <a:off x="1878830" y="2163651"/>
            <a:ext cx="723789" cy="584775"/>
          </a:xfrm>
          <a:prstGeom prst="rect">
            <a:avLst/>
          </a:prstGeom>
          <a:noFill/>
        </p:spPr>
        <p:txBody>
          <a:bodyPr wrap="square" rtlCol="0">
            <a:spAutoFit/>
          </a:bodyPr>
          <a:lstStyle/>
          <a:p>
            <a:r>
              <a:rPr kumimoji="1" lang="en-US" altLang="ja-JP" sz="3200" b="1" dirty="0">
                <a:solidFill>
                  <a:srgbClr val="FF0000"/>
                </a:solidFill>
              </a:rPr>
              <a:t>A</a:t>
            </a:r>
            <a:endParaRPr kumimoji="1" lang="ja-JP" altLang="en-US" sz="3200" b="1" dirty="0">
              <a:solidFill>
                <a:srgbClr val="FF0000"/>
              </a:solidFill>
            </a:endParaRPr>
          </a:p>
        </p:txBody>
      </p:sp>
    </p:spTree>
    <p:extLst>
      <p:ext uri="{BB962C8B-B14F-4D97-AF65-F5344CB8AC3E}">
        <p14:creationId xmlns:p14="http://schemas.microsoft.com/office/powerpoint/2010/main" val="1792047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E0E95B-62E2-4C28-A52F-63AE114AC2D8}"/>
              </a:ext>
            </a:extLst>
          </p:cNvPr>
          <p:cNvSpPr>
            <a:spLocks noGrp="1"/>
          </p:cNvSpPr>
          <p:nvPr>
            <p:ph type="title"/>
          </p:nvPr>
        </p:nvSpPr>
        <p:spPr/>
        <p:txBody>
          <a:bodyPr/>
          <a:lstStyle/>
          <a:p>
            <a:r>
              <a:rPr lang="ja-JP" altLang="en-US" dirty="0"/>
              <a:t>６</a:t>
            </a:r>
            <a:r>
              <a:rPr kumimoji="1" lang="ja-JP" altLang="en-US" dirty="0"/>
              <a:t>．リモートブランチに</a:t>
            </a:r>
            <a:r>
              <a:rPr kumimoji="1" lang="en-US" altLang="ja-JP" dirty="0"/>
              <a:t>push</a:t>
            </a:r>
            <a:r>
              <a:rPr kumimoji="1" lang="ja-JP" altLang="en-US" dirty="0"/>
              <a:t>まで</a:t>
            </a:r>
          </a:p>
        </p:txBody>
      </p:sp>
      <p:sp>
        <p:nvSpPr>
          <p:cNvPr id="3" name="コンテンツ プレースホルダー 2">
            <a:extLst>
              <a:ext uri="{FF2B5EF4-FFF2-40B4-BE49-F238E27FC236}">
                <a16:creationId xmlns:a16="http://schemas.microsoft.com/office/drawing/2014/main" id="{3E9A3680-FD5F-49AF-B1F6-3D7AA575FF94}"/>
              </a:ext>
            </a:extLst>
          </p:cNvPr>
          <p:cNvSpPr>
            <a:spLocks noGrp="1"/>
          </p:cNvSpPr>
          <p:nvPr>
            <p:ph idx="1"/>
          </p:nvPr>
        </p:nvSpPr>
        <p:spPr>
          <a:xfrm>
            <a:off x="6916189" y="1737360"/>
            <a:ext cx="4239491" cy="4023360"/>
          </a:xfrm>
        </p:spPr>
        <p:txBody>
          <a:bodyPr>
            <a:normAutofit/>
          </a:bodyPr>
          <a:lstStyle/>
          <a:p>
            <a:r>
              <a:rPr kumimoji="1" lang="ja-JP" altLang="en-US" sz="2800" dirty="0"/>
              <a:t>エラー箇所を修正し、前回やった</a:t>
            </a:r>
            <a:r>
              <a:rPr lang="ja-JP" altLang="en-US" sz="2800" dirty="0"/>
              <a:t>「</a:t>
            </a:r>
            <a:r>
              <a:rPr lang="en-US" altLang="ja-JP" sz="2800" dirty="0"/>
              <a:t>add</a:t>
            </a:r>
            <a:r>
              <a:rPr lang="ja-JP" altLang="en-US" sz="2800" dirty="0"/>
              <a:t>」～「</a:t>
            </a:r>
            <a:r>
              <a:rPr lang="en-US" altLang="ja-JP" sz="2800" dirty="0"/>
              <a:t>push</a:t>
            </a:r>
            <a:r>
              <a:rPr lang="ja-JP" altLang="en-US" sz="2800" dirty="0"/>
              <a:t>」の操作を行う。</a:t>
            </a:r>
            <a:endParaRPr lang="en-US" altLang="ja-JP" sz="2800" dirty="0"/>
          </a:p>
          <a:p>
            <a:r>
              <a:rPr kumimoji="1" lang="ja-JP" altLang="en-US" sz="2800" dirty="0">
                <a:solidFill>
                  <a:srgbClr val="FF0000"/>
                </a:solidFill>
              </a:rPr>
              <a:t>ただし！</a:t>
            </a:r>
            <a:r>
              <a:rPr kumimoji="1" lang="en-US" altLang="ja-JP" sz="2800" dirty="0">
                <a:solidFill>
                  <a:srgbClr val="FF0000"/>
                </a:solidFill>
              </a:rPr>
              <a:t>Push</a:t>
            </a:r>
            <a:r>
              <a:rPr kumimoji="1" lang="ja-JP" altLang="en-US" sz="2800" dirty="0">
                <a:solidFill>
                  <a:srgbClr val="FF0000"/>
                </a:solidFill>
              </a:rPr>
              <a:t>は「</a:t>
            </a:r>
            <a:r>
              <a:rPr kumimoji="1" lang="en-US" altLang="ja-JP" sz="2800" i="1" dirty="0">
                <a:solidFill>
                  <a:srgbClr val="FF0000"/>
                </a:solidFill>
              </a:rPr>
              <a:t>git push origin </a:t>
            </a:r>
            <a:r>
              <a:rPr kumimoji="1" lang="en-US" altLang="ja-JP" sz="2800" b="1" i="1" dirty="0" err="1">
                <a:solidFill>
                  <a:srgbClr val="FF0000"/>
                </a:solidFill>
              </a:rPr>
              <a:t>branchA</a:t>
            </a:r>
            <a:r>
              <a:rPr lang="ja-JP" altLang="en-US" sz="2800" dirty="0">
                <a:solidFill>
                  <a:srgbClr val="FF0000"/>
                </a:solidFill>
              </a:rPr>
              <a:t>」というコマンドで行う</a:t>
            </a:r>
            <a:endParaRPr lang="en-US" altLang="ja-JP" sz="2800" dirty="0">
              <a:solidFill>
                <a:srgbClr val="FF0000"/>
              </a:solidFill>
            </a:endParaRPr>
          </a:p>
          <a:p>
            <a:r>
              <a:rPr lang="ja-JP" altLang="en-US" sz="2800" dirty="0"/>
              <a:t>左のコマンドの画像を見ると具体的なコマンドは分かるはず</a:t>
            </a:r>
            <a:endParaRPr lang="en-US" altLang="ja-JP" sz="2800" dirty="0"/>
          </a:p>
          <a:p>
            <a:endParaRPr kumimoji="1" lang="ja-JP" altLang="en-US" sz="2800" dirty="0">
              <a:solidFill>
                <a:srgbClr val="FF0000"/>
              </a:solidFill>
            </a:endParaRPr>
          </a:p>
        </p:txBody>
      </p:sp>
      <p:pic>
        <p:nvPicPr>
          <p:cNvPr id="4" name="図 3">
            <a:extLst>
              <a:ext uri="{FF2B5EF4-FFF2-40B4-BE49-F238E27FC236}">
                <a16:creationId xmlns:a16="http://schemas.microsoft.com/office/drawing/2014/main" id="{BA575997-3C3C-40F2-9FD3-E72ED6FDAB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830" y="1938425"/>
            <a:ext cx="1525382" cy="1144037"/>
          </a:xfrm>
          <a:prstGeom prst="rect">
            <a:avLst/>
          </a:prstGeom>
        </p:spPr>
      </p:pic>
      <p:sp>
        <p:nvSpPr>
          <p:cNvPr id="5" name="テキスト ボックス 4">
            <a:extLst>
              <a:ext uri="{FF2B5EF4-FFF2-40B4-BE49-F238E27FC236}">
                <a16:creationId xmlns:a16="http://schemas.microsoft.com/office/drawing/2014/main" id="{D02D1A23-226B-46E0-B873-7D6FE6424BA0}"/>
              </a:ext>
            </a:extLst>
          </p:cNvPr>
          <p:cNvSpPr txBox="1"/>
          <p:nvPr/>
        </p:nvSpPr>
        <p:spPr>
          <a:xfrm>
            <a:off x="810735" y="2139966"/>
            <a:ext cx="723789" cy="584775"/>
          </a:xfrm>
          <a:prstGeom prst="rect">
            <a:avLst/>
          </a:prstGeom>
          <a:noFill/>
        </p:spPr>
        <p:txBody>
          <a:bodyPr wrap="square" rtlCol="0">
            <a:spAutoFit/>
          </a:bodyPr>
          <a:lstStyle/>
          <a:p>
            <a:r>
              <a:rPr kumimoji="1" lang="en-US" altLang="ja-JP" sz="3200" b="1" dirty="0">
                <a:solidFill>
                  <a:srgbClr val="FF0000"/>
                </a:solidFill>
              </a:rPr>
              <a:t>A</a:t>
            </a:r>
            <a:endParaRPr kumimoji="1" lang="ja-JP" altLang="en-US" sz="3200" b="1" dirty="0">
              <a:solidFill>
                <a:srgbClr val="FF0000"/>
              </a:solidFill>
            </a:endParaRPr>
          </a:p>
        </p:txBody>
      </p:sp>
      <p:pic>
        <p:nvPicPr>
          <p:cNvPr id="6" name="図 5" descr="fileA.txt - メモ帳">
            <a:extLst>
              <a:ext uri="{FF2B5EF4-FFF2-40B4-BE49-F238E27FC236}">
                <a16:creationId xmlns:a16="http://schemas.microsoft.com/office/drawing/2014/main" id="{CE24C31C-FC47-4F3D-8EA2-716EE8B5E2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5308" y="1866919"/>
            <a:ext cx="1790855" cy="1318374"/>
          </a:xfrm>
          <a:prstGeom prst="rect">
            <a:avLst/>
          </a:prstGeom>
        </p:spPr>
      </p:pic>
      <p:pic>
        <p:nvPicPr>
          <p:cNvPr id="8" name="図 7" descr="fileA.txt - メモ帳">
            <a:extLst>
              <a:ext uri="{FF2B5EF4-FFF2-40B4-BE49-F238E27FC236}">
                <a16:creationId xmlns:a16="http://schemas.microsoft.com/office/drawing/2014/main" id="{568A9F0E-17AE-48A4-A394-61279E82BA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1703" y="1872409"/>
            <a:ext cx="1935648" cy="1310754"/>
          </a:xfrm>
          <a:prstGeom prst="rect">
            <a:avLst/>
          </a:prstGeom>
        </p:spPr>
      </p:pic>
      <p:sp>
        <p:nvSpPr>
          <p:cNvPr id="9" name="矢印: 右 8">
            <a:extLst>
              <a:ext uri="{FF2B5EF4-FFF2-40B4-BE49-F238E27FC236}">
                <a16:creationId xmlns:a16="http://schemas.microsoft.com/office/drawing/2014/main" id="{D8981C89-5C4A-4D1C-9861-045A521563A2}"/>
              </a:ext>
            </a:extLst>
          </p:cNvPr>
          <p:cNvSpPr/>
          <p:nvPr/>
        </p:nvSpPr>
        <p:spPr>
          <a:xfrm>
            <a:off x="3553317" y="2224322"/>
            <a:ext cx="748145" cy="6483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 name="図 10" descr="選択コマンド プロンプト">
            <a:extLst>
              <a:ext uri="{FF2B5EF4-FFF2-40B4-BE49-F238E27FC236}">
                <a16:creationId xmlns:a16="http://schemas.microsoft.com/office/drawing/2014/main" id="{DB105BCE-57AC-4CCE-8B77-B9885BE62F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7120" y="3263075"/>
            <a:ext cx="4627083" cy="3137725"/>
          </a:xfrm>
          <a:prstGeom prst="rect">
            <a:avLst/>
          </a:prstGeom>
        </p:spPr>
      </p:pic>
      <p:sp>
        <p:nvSpPr>
          <p:cNvPr id="12" name="テキスト ボックス 11">
            <a:extLst>
              <a:ext uri="{FF2B5EF4-FFF2-40B4-BE49-F238E27FC236}">
                <a16:creationId xmlns:a16="http://schemas.microsoft.com/office/drawing/2014/main" id="{1D1CDD3F-E0F4-4E91-9E78-8519530DA724}"/>
              </a:ext>
            </a:extLst>
          </p:cNvPr>
          <p:cNvSpPr txBox="1"/>
          <p:nvPr/>
        </p:nvSpPr>
        <p:spPr>
          <a:xfrm>
            <a:off x="5154203" y="5336125"/>
            <a:ext cx="3097088" cy="923330"/>
          </a:xfrm>
          <a:prstGeom prst="rect">
            <a:avLst/>
          </a:prstGeom>
          <a:noFill/>
        </p:spPr>
        <p:txBody>
          <a:bodyPr wrap="square" rtlCol="0">
            <a:spAutoFit/>
          </a:bodyPr>
          <a:lstStyle/>
          <a:p>
            <a:r>
              <a:rPr kumimoji="1" lang="ja-JP" altLang="en-US" i="1" dirty="0"/>
              <a:t>豆知識</a:t>
            </a:r>
            <a:endParaRPr kumimoji="1" lang="en-US" altLang="ja-JP" i="1" dirty="0"/>
          </a:p>
          <a:p>
            <a:r>
              <a:rPr kumimoji="1" lang="ja-JP" altLang="en-US" dirty="0"/>
              <a:t>ファイル編集後、</a:t>
            </a:r>
            <a:r>
              <a:rPr kumimoji="1" lang="en-US" altLang="ja-JP" dirty="0"/>
              <a:t>add</a:t>
            </a:r>
            <a:r>
              <a:rPr kumimoji="1" lang="ja-JP" altLang="en-US" dirty="0"/>
              <a:t>する前に「</a:t>
            </a:r>
            <a:r>
              <a:rPr kumimoji="1" lang="en-US" altLang="ja-JP" dirty="0"/>
              <a:t>git diff</a:t>
            </a:r>
            <a:r>
              <a:rPr kumimoji="1" lang="ja-JP" altLang="en-US" dirty="0"/>
              <a:t>」すると変更が見れる</a:t>
            </a:r>
          </a:p>
        </p:txBody>
      </p:sp>
    </p:spTree>
    <p:extLst>
      <p:ext uri="{BB962C8B-B14F-4D97-AF65-F5344CB8AC3E}">
        <p14:creationId xmlns:p14="http://schemas.microsoft.com/office/powerpoint/2010/main" val="631550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B24B2C-53DA-42E6-8B51-36819548C725}"/>
              </a:ext>
            </a:extLst>
          </p:cNvPr>
          <p:cNvSpPr>
            <a:spLocks noGrp="1"/>
          </p:cNvSpPr>
          <p:nvPr>
            <p:ph type="title"/>
          </p:nvPr>
        </p:nvSpPr>
        <p:spPr/>
        <p:txBody>
          <a:bodyPr/>
          <a:lstStyle/>
          <a:p>
            <a:r>
              <a:rPr kumimoji="1" lang="ja-JP" altLang="en-US" dirty="0"/>
              <a:t>７．</a:t>
            </a:r>
            <a:r>
              <a:rPr lang="en-US" altLang="ja-JP" dirty="0"/>
              <a:t>GitHub</a:t>
            </a:r>
            <a:r>
              <a:rPr lang="ja-JP" altLang="en-US" dirty="0"/>
              <a:t>で確認</a:t>
            </a:r>
            <a:endParaRPr kumimoji="1" lang="ja-JP" altLang="en-US" dirty="0"/>
          </a:p>
        </p:txBody>
      </p:sp>
      <p:sp>
        <p:nvSpPr>
          <p:cNvPr id="3" name="コンテンツ プレースホルダー 2">
            <a:extLst>
              <a:ext uri="{FF2B5EF4-FFF2-40B4-BE49-F238E27FC236}">
                <a16:creationId xmlns:a16="http://schemas.microsoft.com/office/drawing/2014/main" id="{255F551C-FBAA-477F-AB5F-6B38AA0163EB}"/>
              </a:ext>
            </a:extLst>
          </p:cNvPr>
          <p:cNvSpPr>
            <a:spLocks noGrp="1"/>
          </p:cNvSpPr>
          <p:nvPr>
            <p:ph idx="1"/>
          </p:nvPr>
        </p:nvSpPr>
        <p:spPr>
          <a:xfrm>
            <a:off x="1109749" y="2211494"/>
            <a:ext cx="4788131" cy="4023360"/>
          </a:xfrm>
        </p:spPr>
        <p:txBody>
          <a:bodyPr/>
          <a:lstStyle/>
          <a:p>
            <a:pPr marL="0" indent="0">
              <a:buNone/>
            </a:pPr>
            <a:r>
              <a:rPr kumimoji="1" lang="ja-JP" altLang="en-US" dirty="0"/>
              <a:t>１．</a:t>
            </a:r>
            <a:r>
              <a:rPr kumimoji="1" lang="en-US" altLang="ja-JP" dirty="0"/>
              <a:t>GitHub</a:t>
            </a:r>
            <a:r>
              <a:rPr kumimoji="1" lang="ja-JP" altLang="en-US" dirty="0"/>
              <a:t>で</a:t>
            </a:r>
            <a:r>
              <a:rPr lang="ja-JP" altLang="en-US" dirty="0"/>
              <a:t>画像</a:t>
            </a:r>
            <a:r>
              <a:rPr kumimoji="1" lang="ja-JP" altLang="en-US" dirty="0"/>
              <a:t>の「</a:t>
            </a:r>
            <a:r>
              <a:rPr lang="en-US" altLang="ja-JP" dirty="0" err="1"/>
              <a:t>branche</a:t>
            </a:r>
            <a:r>
              <a:rPr lang="ja-JP" altLang="en-US" dirty="0"/>
              <a:t>ｓ」をクリック。</a:t>
            </a:r>
            <a:endParaRPr kumimoji="1" lang="ja-JP" altLang="en-US" dirty="0"/>
          </a:p>
        </p:txBody>
      </p:sp>
      <p:pic>
        <p:nvPicPr>
          <p:cNvPr id="5" name="図 4" descr="YoshikiAkashi/gitTest: このリモートリポジトリでテストするよー - Internet Explorer">
            <a:hlinkClick r:id="rId2"/>
            <a:extLst>
              <a:ext uri="{FF2B5EF4-FFF2-40B4-BE49-F238E27FC236}">
                <a16:creationId xmlns:a16="http://schemas.microsoft.com/office/drawing/2014/main" id="{45ABF020-4E95-45D5-8A59-33234B1FDF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814" y="2803054"/>
            <a:ext cx="3820159" cy="2840239"/>
          </a:xfrm>
          <a:prstGeom prst="rect">
            <a:avLst/>
          </a:prstGeom>
        </p:spPr>
      </p:pic>
      <p:pic>
        <p:nvPicPr>
          <p:cNvPr id="7" name="図 6" descr="Branches · YoshikiAkashi/gitTest - Internet Explorer">
            <a:hlinkClick r:id="rId4"/>
            <a:extLst>
              <a:ext uri="{FF2B5EF4-FFF2-40B4-BE49-F238E27FC236}">
                <a16:creationId xmlns:a16="http://schemas.microsoft.com/office/drawing/2014/main" id="{215F38B4-9EAC-45FC-928D-FE66DE5380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34811" y="2803054"/>
            <a:ext cx="4122752" cy="3065212"/>
          </a:xfrm>
          <a:prstGeom prst="rect">
            <a:avLst/>
          </a:prstGeom>
        </p:spPr>
      </p:pic>
      <p:sp>
        <p:nvSpPr>
          <p:cNvPr id="8" name="コンテンツ プレースホルダー 2">
            <a:extLst>
              <a:ext uri="{FF2B5EF4-FFF2-40B4-BE49-F238E27FC236}">
                <a16:creationId xmlns:a16="http://schemas.microsoft.com/office/drawing/2014/main" id="{0ECCEB2C-6C82-411A-9E0E-6B41C50E5787}"/>
              </a:ext>
            </a:extLst>
          </p:cNvPr>
          <p:cNvSpPr txBox="1">
            <a:spLocks/>
          </p:cNvSpPr>
          <p:nvPr/>
        </p:nvSpPr>
        <p:spPr>
          <a:xfrm>
            <a:off x="6502121" y="2240868"/>
            <a:ext cx="4788131"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kumimoji="1"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ja-JP" altLang="en-US" dirty="0"/>
              <a:t>２．続いて画像の「</a:t>
            </a:r>
            <a:r>
              <a:rPr lang="en-US" altLang="ja-JP" dirty="0" err="1"/>
              <a:t>brancheA</a:t>
            </a:r>
            <a:r>
              <a:rPr lang="ja-JP" altLang="en-US" dirty="0"/>
              <a:t>」をクリック。</a:t>
            </a:r>
          </a:p>
        </p:txBody>
      </p:sp>
      <p:sp>
        <p:nvSpPr>
          <p:cNvPr id="11" name="円: 塗りつぶしなし 10">
            <a:extLst>
              <a:ext uri="{FF2B5EF4-FFF2-40B4-BE49-F238E27FC236}">
                <a16:creationId xmlns:a16="http://schemas.microsoft.com/office/drawing/2014/main" id="{75335915-FF59-4BB7-A613-CAB211557025}"/>
              </a:ext>
            </a:extLst>
          </p:cNvPr>
          <p:cNvSpPr/>
          <p:nvPr/>
        </p:nvSpPr>
        <p:spPr>
          <a:xfrm>
            <a:off x="2694433" y="4039879"/>
            <a:ext cx="563880" cy="591561"/>
          </a:xfrm>
          <a:prstGeom prst="donut">
            <a:avLst>
              <a:gd name="adj" fmla="val 417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solidFill>
                <a:schemeClr val="tx1"/>
              </a:solidFill>
            </a:endParaRPr>
          </a:p>
        </p:txBody>
      </p:sp>
      <p:sp>
        <p:nvSpPr>
          <p:cNvPr id="12" name="円: 塗りつぶしなし 11">
            <a:extLst>
              <a:ext uri="{FF2B5EF4-FFF2-40B4-BE49-F238E27FC236}">
                <a16:creationId xmlns:a16="http://schemas.microsoft.com/office/drawing/2014/main" id="{D293AD50-6AC4-4A79-B8AC-51942AA42B72}"/>
              </a:ext>
            </a:extLst>
          </p:cNvPr>
          <p:cNvSpPr/>
          <p:nvPr/>
        </p:nvSpPr>
        <p:spPr>
          <a:xfrm>
            <a:off x="6895221" y="4631440"/>
            <a:ext cx="563880" cy="591561"/>
          </a:xfrm>
          <a:prstGeom prst="donut">
            <a:avLst>
              <a:gd name="adj" fmla="val 417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1652856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descr="gitTest/fileA.txt at branchA · YoshikiAkashi/gitTest - Internet Explorer">
            <a:hlinkClick r:id="rId2"/>
            <a:extLst>
              <a:ext uri="{FF2B5EF4-FFF2-40B4-BE49-F238E27FC236}">
                <a16:creationId xmlns:a16="http://schemas.microsoft.com/office/drawing/2014/main" id="{34E2DDD7-2B93-4EE0-B1CB-C7A213490E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0320" y="1947768"/>
            <a:ext cx="5495917" cy="4086143"/>
          </a:xfrm>
          <a:prstGeom prst="rect">
            <a:avLst/>
          </a:prstGeom>
        </p:spPr>
      </p:pic>
      <p:sp>
        <p:nvSpPr>
          <p:cNvPr id="2" name="タイトル 1">
            <a:extLst>
              <a:ext uri="{FF2B5EF4-FFF2-40B4-BE49-F238E27FC236}">
                <a16:creationId xmlns:a16="http://schemas.microsoft.com/office/drawing/2014/main" id="{EC559782-0C54-493F-B8FD-83FF86C46AE4}"/>
              </a:ext>
            </a:extLst>
          </p:cNvPr>
          <p:cNvSpPr>
            <a:spLocks noGrp="1"/>
          </p:cNvSpPr>
          <p:nvPr>
            <p:ph type="title"/>
          </p:nvPr>
        </p:nvSpPr>
        <p:spPr/>
        <p:txBody>
          <a:bodyPr/>
          <a:lstStyle/>
          <a:p>
            <a:r>
              <a:rPr kumimoji="1" lang="ja-JP" altLang="en-US" dirty="0"/>
              <a:t>７．</a:t>
            </a:r>
          </a:p>
        </p:txBody>
      </p:sp>
      <p:sp>
        <p:nvSpPr>
          <p:cNvPr id="3" name="コンテンツ プレースホルダー 2">
            <a:extLst>
              <a:ext uri="{FF2B5EF4-FFF2-40B4-BE49-F238E27FC236}">
                <a16:creationId xmlns:a16="http://schemas.microsoft.com/office/drawing/2014/main" id="{59FEE1AC-4B1F-4889-9460-86900C0E006D}"/>
              </a:ext>
            </a:extLst>
          </p:cNvPr>
          <p:cNvSpPr>
            <a:spLocks noGrp="1"/>
          </p:cNvSpPr>
          <p:nvPr>
            <p:ph idx="1"/>
          </p:nvPr>
        </p:nvSpPr>
        <p:spPr>
          <a:xfrm>
            <a:off x="7268308" y="1845733"/>
            <a:ext cx="3887372" cy="4086143"/>
          </a:xfrm>
        </p:spPr>
        <p:txBody>
          <a:bodyPr>
            <a:normAutofit/>
          </a:bodyPr>
          <a:lstStyle/>
          <a:p>
            <a:r>
              <a:rPr kumimoji="1" lang="ja-JP" altLang="en-US" sz="2800" dirty="0"/>
              <a:t>フォルダ「</a:t>
            </a:r>
            <a:r>
              <a:rPr kumimoji="1" lang="en-US" altLang="ja-JP" sz="2800" dirty="0"/>
              <a:t>game</a:t>
            </a:r>
            <a:r>
              <a:rPr kumimoji="1" lang="ja-JP" altLang="en-US" sz="2800" dirty="0"/>
              <a:t>」⇒「</a:t>
            </a:r>
            <a:r>
              <a:rPr kumimoji="1" lang="en-US" altLang="ja-JP" sz="2800" dirty="0"/>
              <a:t>fileA.txt</a:t>
            </a:r>
            <a:r>
              <a:rPr kumimoji="1" lang="ja-JP" altLang="en-US" sz="2800" dirty="0"/>
              <a:t>」と進むと、左の画像のように中のテキストがしっかり変更されていることが確認できる。</a:t>
            </a:r>
          </a:p>
        </p:txBody>
      </p:sp>
      <p:sp>
        <p:nvSpPr>
          <p:cNvPr id="4" name="円: 塗りつぶしなし 3">
            <a:extLst>
              <a:ext uri="{FF2B5EF4-FFF2-40B4-BE49-F238E27FC236}">
                <a16:creationId xmlns:a16="http://schemas.microsoft.com/office/drawing/2014/main" id="{B760BC09-3465-4CE4-81B1-FC8B0A6F361D}"/>
              </a:ext>
            </a:extLst>
          </p:cNvPr>
          <p:cNvSpPr/>
          <p:nvPr/>
        </p:nvSpPr>
        <p:spPr>
          <a:xfrm>
            <a:off x="1967522" y="4477650"/>
            <a:ext cx="563880" cy="591561"/>
          </a:xfrm>
          <a:prstGeom prst="donut">
            <a:avLst>
              <a:gd name="adj" fmla="val 417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2855138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6F131A-4980-409B-B597-D8B8C9D3B8A7}"/>
              </a:ext>
            </a:extLst>
          </p:cNvPr>
          <p:cNvSpPr>
            <a:spLocks noGrp="1"/>
          </p:cNvSpPr>
          <p:nvPr>
            <p:ph type="title"/>
          </p:nvPr>
        </p:nvSpPr>
        <p:spPr/>
        <p:txBody>
          <a:bodyPr/>
          <a:lstStyle/>
          <a:p>
            <a:r>
              <a:rPr lang="ja-JP" altLang="en-US" dirty="0"/>
              <a:t>８</a:t>
            </a:r>
            <a:r>
              <a:rPr kumimoji="1" lang="ja-JP" altLang="en-US" dirty="0"/>
              <a:t>．プルリクエスト</a:t>
            </a:r>
          </a:p>
        </p:txBody>
      </p:sp>
      <p:sp>
        <p:nvSpPr>
          <p:cNvPr id="3" name="コンテンツ プレースホルダー 2">
            <a:extLst>
              <a:ext uri="{FF2B5EF4-FFF2-40B4-BE49-F238E27FC236}">
                <a16:creationId xmlns:a16="http://schemas.microsoft.com/office/drawing/2014/main" id="{5E158310-5BFF-46FA-84FB-BE1BF60CA890}"/>
              </a:ext>
            </a:extLst>
          </p:cNvPr>
          <p:cNvSpPr>
            <a:spLocks noGrp="1"/>
          </p:cNvSpPr>
          <p:nvPr>
            <p:ph idx="1"/>
          </p:nvPr>
        </p:nvSpPr>
        <p:spPr>
          <a:xfrm>
            <a:off x="6979920" y="1845734"/>
            <a:ext cx="4175760" cy="4023360"/>
          </a:xfrm>
        </p:spPr>
        <p:txBody>
          <a:bodyPr>
            <a:normAutofit/>
          </a:bodyPr>
          <a:lstStyle/>
          <a:p>
            <a:r>
              <a:rPr kumimoji="1" lang="ja-JP" altLang="en-US" sz="2800" dirty="0"/>
              <a:t>プルリクエストは、ファイルを変更し</a:t>
            </a:r>
            <a:r>
              <a:rPr kumimoji="1" lang="en-US" altLang="ja-JP" sz="2800" dirty="0"/>
              <a:t>push</a:t>
            </a:r>
            <a:r>
              <a:rPr kumimoji="1" lang="ja-JP" altLang="en-US" sz="2800" dirty="0"/>
              <a:t>したことをほかの人に知らせることである。</a:t>
            </a:r>
            <a:endParaRPr kumimoji="1" lang="en-US" altLang="ja-JP" sz="2800" dirty="0"/>
          </a:p>
          <a:p>
            <a:endParaRPr lang="en-US" altLang="ja-JP" sz="2800" dirty="0"/>
          </a:p>
          <a:p>
            <a:r>
              <a:rPr lang="ja-JP" altLang="en-US" sz="2800" dirty="0"/>
              <a:t>「</a:t>
            </a:r>
            <a:r>
              <a:rPr lang="en-US" altLang="ja-JP" sz="2800" dirty="0"/>
              <a:t>Pull requests</a:t>
            </a:r>
            <a:r>
              <a:rPr lang="ja-JP" altLang="en-US" sz="2800" dirty="0"/>
              <a:t>」を選択し、緑のボタン「</a:t>
            </a:r>
            <a:r>
              <a:rPr lang="en-US" altLang="ja-JP" sz="2800" dirty="0"/>
              <a:t>New pull request</a:t>
            </a:r>
            <a:r>
              <a:rPr lang="ja-JP" altLang="en-US" sz="2800" dirty="0"/>
              <a:t>」をクリック</a:t>
            </a:r>
            <a:endParaRPr lang="en-US" altLang="ja-JP" sz="2800" dirty="0"/>
          </a:p>
        </p:txBody>
      </p:sp>
      <p:pic>
        <p:nvPicPr>
          <p:cNvPr id="5" name="図 4" descr="Pull Requests · YoshikiAkashi/gitTest - Internet Explorer">
            <a:hlinkClick r:id="rId2"/>
            <a:extLst>
              <a:ext uri="{FF2B5EF4-FFF2-40B4-BE49-F238E27FC236}">
                <a16:creationId xmlns:a16="http://schemas.microsoft.com/office/drawing/2014/main" id="{41ACBF22-75F1-4FE6-8F14-4D822C700B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280" y="1959789"/>
            <a:ext cx="5258068" cy="3909305"/>
          </a:xfrm>
          <a:prstGeom prst="rect">
            <a:avLst/>
          </a:prstGeom>
        </p:spPr>
      </p:pic>
      <p:sp>
        <p:nvSpPr>
          <p:cNvPr id="6" name="円: 塗りつぶしなし 5">
            <a:extLst>
              <a:ext uri="{FF2B5EF4-FFF2-40B4-BE49-F238E27FC236}">
                <a16:creationId xmlns:a16="http://schemas.microsoft.com/office/drawing/2014/main" id="{69C2E76F-D045-448F-BF43-27327A023E69}"/>
              </a:ext>
            </a:extLst>
          </p:cNvPr>
          <p:cNvSpPr/>
          <p:nvPr/>
        </p:nvSpPr>
        <p:spPr>
          <a:xfrm>
            <a:off x="2074202" y="3429000"/>
            <a:ext cx="563880" cy="591561"/>
          </a:xfrm>
          <a:prstGeom prst="donut">
            <a:avLst>
              <a:gd name="adj" fmla="val 417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solidFill>
                <a:schemeClr val="tx1"/>
              </a:solidFill>
            </a:endParaRPr>
          </a:p>
        </p:txBody>
      </p:sp>
      <p:sp>
        <p:nvSpPr>
          <p:cNvPr id="7" name="円: 塗りつぶしなし 6">
            <a:extLst>
              <a:ext uri="{FF2B5EF4-FFF2-40B4-BE49-F238E27FC236}">
                <a16:creationId xmlns:a16="http://schemas.microsoft.com/office/drawing/2014/main" id="{E0C70ABB-0134-4205-B585-25A31144923D}"/>
              </a:ext>
            </a:extLst>
          </p:cNvPr>
          <p:cNvSpPr/>
          <p:nvPr/>
        </p:nvSpPr>
        <p:spPr>
          <a:xfrm>
            <a:off x="5532120" y="4614810"/>
            <a:ext cx="563880" cy="591561"/>
          </a:xfrm>
          <a:prstGeom prst="donut">
            <a:avLst>
              <a:gd name="adj" fmla="val 417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3392997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41DE75-F051-4652-8657-56423FCE550A}"/>
              </a:ext>
            </a:extLst>
          </p:cNvPr>
          <p:cNvSpPr>
            <a:spLocks noGrp="1"/>
          </p:cNvSpPr>
          <p:nvPr>
            <p:ph type="title"/>
          </p:nvPr>
        </p:nvSpPr>
        <p:spPr/>
        <p:txBody>
          <a:bodyPr/>
          <a:lstStyle/>
          <a:p>
            <a:r>
              <a:rPr kumimoji="1" lang="ja-JP" altLang="en-US" dirty="0"/>
              <a:t>８．</a:t>
            </a:r>
          </a:p>
        </p:txBody>
      </p:sp>
      <p:pic>
        <p:nvPicPr>
          <p:cNvPr id="5" name="コンテンツ プレースホルダー 4" descr="Comparing master...branchA · YoshikiAkashi/gitTest - Internet Explorer">
            <a:hlinkClick r:id="rId2"/>
            <a:extLst>
              <a:ext uri="{FF2B5EF4-FFF2-40B4-BE49-F238E27FC236}">
                <a16:creationId xmlns:a16="http://schemas.microsoft.com/office/drawing/2014/main" id="{E8432A8B-336A-4D30-8427-4C4ED19EC30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81509" y="2291497"/>
            <a:ext cx="4257291" cy="3150771"/>
          </a:xfrm>
        </p:spPr>
      </p:pic>
      <p:sp>
        <p:nvSpPr>
          <p:cNvPr id="6" name="円: 塗りつぶしなし 5">
            <a:extLst>
              <a:ext uri="{FF2B5EF4-FFF2-40B4-BE49-F238E27FC236}">
                <a16:creationId xmlns:a16="http://schemas.microsoft.com/office/drawing/2014/main" id="{0C6F1F2C-C7E2-4254-8BB9-66E560C3C1D1}"/>
              </a:ext>
            </a:extLst>
          </p:cNvPr>
          <p:cNvSpPr/>
          <p:nvPr/>
        </p:nvSpPr>
        <p:spPr>
          <a:xfrm>
            <a:off x="2226602" y="3275321"/>
            <a:ext cx="563880" cy="591561"/>
          </a:xfrm>
          <a:prstGeom prst="donut">
            <a:avLst>
              <a:gd name="adj" fmla="val 417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solidFill>
                <a:schemeClr val="tx1"/>
              </a:solidFill>
            </a:endParaRPr>
          </a:p>
        </p:txBody>
      </p:sp>
      <p:sp>
        <p:nvSpPr>
          <p:cNvPr id="7" name="テキスト ボックス 6">
            <a:extLst>
              <a:ext uri="{FF2B5EF4-FFF2-40B4-BE49-F238E27FC236}">
                <a16:creationId xmlns:a16="http://schemas.microsoft.com/office/drawing/2014/main" id="{26CA4E02-23A0-4604-BC4D-9D1C0F6BD5AD}"/>
              </a:ext>
            </a:extLst>
          </p:cNvPr>
          <p:cNvSpPr txBox="1"/>
          <p:nvPr/>
        </p:nvSpPr>
        <p:spPr>
          <a:xfrm>
            <a:off x="6126480" y="1981200"/>
            <a:ext cx="5242560" cy="3970318"/>
          </a:xfrm>
          <a:prstGeom prst="rect">
            <a:avLst/>
          </a:prstGeom>
          <a:noFill/>
        </p:spPr>
        <p:txBody>
          <a:bodyPr wrap="square" rtlCol="0">
            <a:spAutoFit/>
          </a:bodyPr>
          <a:lstStyle/>
          <a:p>
            <a:r>
              <a:rPr kumimoji="1" lang="ja-JP" altLang="en-US" sz="2800" dirty="0"/>
              <a:t>「</a:t>
            </a:r>
            <a:r>
              <a:rPr kumimoji="1" lang="en-US" altLang="ja-JP" sz="2800" dirty="0"/>
              <a:t>compare: master </a:t>
            </a:r>
            <a:r>
              <a:rPr kumimoji="1" lang="ja-JP" altLang="en-US" sz="1600" dirty="0"/>
              <a:t>▼</a:t>
            </a:r>
            <a:r>
              <a:rPr kumimoji="1" lang="ja-JP" altLang="en-US" sz="2800" dirty="0"/>
              <a:t>」をクリックし、「</a:t>
            </a:r>
            <a:r>
              <a:rPr kumimoji="1" lang="en-US" altLang="ja-JP" sz="2800" dirty="0" err="1"/>
              <a:t>branchA</a:t>
            </a:r>
            <a:r>
              <a:rPr kumimoji="1" lang="ja-JP" altLang="en-US" sz="2800" dirty="0"/>
              <a:t>」を選択。</a:t>
            </a:r>
            <a:endParaRPr kumimoji="1" lang="en-US" altLang="ja-JP" sz="2800" dirty="0"/>
          </a:p>
          <a:p>
            <a:r>
              <a:rPr kumimoji="1" lang="ja-JP" altLang="en-US" sz="2800" dirty="0"/>
              <a:t>緑色のボタン「</a:t>
            </a:r>
            <a:r>
              <a:rPr kumimoji="1" lang="en-US" altLang="ja-JP" sz="2800" dirty="0"/>
              <a:t>Create pull request</a:t>
            </a:r>
            <a:r>
              <a:rPr kumimoji="1" lang="ja-JP" altLang="en-US" sz="2800" dirty="0"/>
              <a:t>」が出てくるのでクリック。</a:t>
            </a:r>
            <a:endParaRPr kumimoji="1" lang="en-US" altLang="ja-JP" sz="2800" dirty="0"/>
          </a:p>
          <a:p>
            <a:r>
              <a:rPr kumimoji="1" lang="ja-JP" altLang="en-US" sz="2800" dirty="0"/>
              <a:t>もう一回下のほうに緑色のボタン「</a:t>
            </a:r>
            <a:r>
              <a:rPr kumimoji="1" lang="en-US" altLang="ja-JP" sz="2800" dirty="0"/>
              <a:t>Create pull request</a:t>
            </a:r>
            <a:r>
              <a:rPr kumimoji="1" lang="ja-JP" altLang="en-US" sz="2800" dirty="0"/>
              <a:t>」が出てくるのでクリック。</a:t>
            </a:r>
            <a:endParaRPr kumimoji="1" lang="en-US" altLang="ja-JP" sz="2800" dirty="0"/>
          </a:p>
          <a:p>
            <a:endParaRPr kumimoji="1" lang="en-US" altLang="ja-JP" sz="2800" dirty="0"/>
          </a:p>
          <a:p>
            <a:r>
              <a:rPr kumimoji="1" lang="ja-JP" altLang="en-US" sz="2800" dirty="0"/>
              <a:t>これでプルリクは完了である。</a:t>
            </a:r>
          </a:p>
        </p:txBody>
      </p:sp>
      <p:sp>
        <p:nvSpPr>
          <p:cNvPr id="8" name="円: 塗りつぶしなし 7">
            <a:extLst>
              <a:ext uri="{FF2B5EF4-FFF2-40B4-BE49-F238E27FC236}">
                <a16:creationId xmlns:a16="http://schemas.microsoft.com/office/drawing/2014/main" id="{45C1DE72-A8A7-4BA5-8C48-7F5DFD36508B}"/>
              </a:ext>
            </a:extLst>
          </p:cNvPr>
          <p:cNvSpPr/>
          <p:nvPr/>
        </p:nvSpPr>
        <p:spPr>
          <a:xfrm>
            <a:off x="1662722" y="3571101"/>
            <a:ext cx="563880" cy="591561"/>
          </a:xfrm>
          <a:prstGeom prst="donut">
            <a:avLst>
              <a:gd name="adj" fmla="val 417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3269910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descr="fileAFixed by YoshikiAkashi · Pull Request #1 · YoshikiAkashi/gitTest - Internet Explorer">
            <a:hlinkClick r:id="rId2"/>
            <a:extLst>
              <a:ext uri="{FF2B5EF4-FFF2-40B4-BE49-F238E27FC236}">
                <a16:creationId xmlns:a16="http://schemas.microsoft.com/office/drawing/2014/main" id="{0F8032C5-D3C7-438E-8A8E-19FF11F83A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3688" y="1824644"/>
            <a:ext cx="4089470" cy="4349251"/>
          </a:xfrm>
          <a:prstGeom prst="rect">
            <a:avLst/>
          </a:prstGeom>
        </p:spPr>
      </p:pic>
      <p:sp>
        <p:nvSpPr>
          <p:cNvPr id="2" name="タイトル 1">
            <a:extLst>
              <a:ext uri="{FF2B5EF4-FFF2-40B4-BE49-F238E27FC236}">
                <a16:creationId xmlns:a16="http://schemas.microsoft.com/office/drawing/2014/main" id="{E848BFFD-10EA-4A36-9B78-42484D7DDCCF}"/>
              </a:ext>
            </a:extLst>
          </p:cNvPr>
          <p:cNvSpPr>
            <a:spLocks noGrp="1"/>
          </p:cNvSpPr>
          <p:nvPr>
            <p:ph type="title"/>
          </p:nvPr>
        </p:nvSpPr>
        <p:spPr/>
        <p:txBody>
          <a:bodyPr/>
          <a:lstStyle/>
          <a:p>
            <a:r>
              <a:rPr kumimoji="1" lang="ja-JP" altLang="en-US" dirty="0"/>
              <a:t>８．</a:t>
            </a:r>
          </a:p>
        </p:txBody>
      </p:sp>
      <p:sp>
        <p:nvSpPr>
          <p:cNvPr id="3" name="コンテンツ プレースホルダー 2">
            <a:extLst>
              <a:ext uri="{FF2B5EF4-FFF2-40B4-BE49-F238E27FC236}">
                <a16:creationId xmlns:a16="http://schemas.microsoft.com/office/drawing/2014/main" id="{9CCA0FFF-442B-47DB-AC90-ED1713C0F141}"/>
              </a:ext>
            </a:extLst>
          </p:cNvPr>
          <p:cNvSpPr>
            <a:spLocks noGrp="1"/>
          </p:cNvSpPr>
          <p:nvPr>
            <p:ph idx="1"/>
          </p:nvPr>
        </p:nvSpPr>
        <p:spPr>
          <a:xfrm>
            <a:off x="6812280" y="1845734"/>
            <a:ext cx="4343400" cy="4023360"/>
          </a:xfrm>
        </p:spPr>
        <p:txBody>
          <a:bodyPr>
            <a:normAutofit/>
          </a:bodyPr>
          <a:lstStyle/>
          <a:p>
            <a:r>
              <a:rPr kumimoji="1" lang="ja-JP" altLang="en-US" sz="2800" dirty="0"/>
              <a:t>左の画像のようにコードを指定してコメント付けられる</a:t>
            </a:r>
            <a:endParaRPr kumimoji="1" lang="en-US" altLang="ja-JP" sz="2800" dirty="0"/>
          </a:p>
          <a:p>
            <a:endParaRPr lang="en-US" altLang="ja-JP" sz="2800" dirty="0"/>
          </a:p>
          <a:p>
            <a:r>
              <a:rPr kumimoji="1" lang="ja-JP" altLang="en-US" sz="2800" dirty="0"/>
              <a:t>プルリクは共同作業者へお知らせすると同時に、コードが間違ってないかなどその人にチェックしてもらう役割がある</a:t>
            </a:r>
          </a:p>
        </p:txBody>
      </p:sp>
      <p:sp>
        <p:nvSpPr>
          <p:cNvPr id="6" name="円: 塗りつぶしなし 5">
            <a:extLst>
              <a:ext uri="{FF2B5EF4-FFF2-40B4-BE49-F238E27FC236}">
                <a16:creationId xmlns:a16="http://schemas.microsoft.com/office/drawing/2014/main" id="{4DB7E9E9-3F36-4AC7-B8B7-B697BE33A9CE}"/>
              </a:ext>
            </a:extLst>
          </p:cNvPr>
          <p:cNvSpPr/>
          <p:nvPr/>
        </p:nvSpPr>
        <p:spPr>
          <a:xfrm>
            <a:off x="1753688" y="4121850"/>
            <a:ext cx="3732238" cy="1632375"/>
          </a:xfrm>
          <a:prstGeom prst="donut">
            <a:avLst>
              <a:gd name="adj" fmla="val 417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354456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F88155-3662-45C8-AE8F-1B90EEA916A4}"/>
              </a:ext>
            </a:extLst>
          </p:cNvPr>
          <p:cNvSpPr>
            <a:spLocks noGrp="1"/>
          </p:cNvSpPr>
          <p:nvPr>
            <p:ph type="title"/>
          </p:nvPr>
        </p:nvSpPr>
        <p:spPr/>
        <p:txBody>
          <a:bodyPr/>
          <a:lstStyle/>
          <a:p>
            <a:r>
              <a:rPr kumimoji="1" lang="ja-JP" altLang="en-US" dirty="0"/>
              <a:t>９．</a:t>
            </a:r>
            <a:r>
              <a:rPr kumimoji="1" lang="en-US" altLang="ja-JP" dirty="0" err="1"/>
              <a:t>branchB</a:t>
            </a:r>
            <a:r>
              <a:rPr kumimoji="1" lang="ja-JP" altLang="en-US" dirty="0" err="1"/>
              <a:t>、</a:t>
            </a:r>
            <a:r>
              <a:rPr kumimoji="1" lang="en-US" altLang="ja-JP" dirty="0"/>
              <a:t>C</a:t>
            </a:r>
            <a:endParaRPr kumimoji="1" lang="ja-JP" altLang="en-US" dirty="0"/>
          </a:p>
        </p:txBody>
      </p:sp>
      <p:sp>
        <p:nvSpPr>
          <p:cNvPr id="3" name="コンテンツ プレースホルダー 2">
            <a:extLst>
              <a:ext uri="{FF2B5EF4-FFF2-40B4-BE49-F238E27FC236}">
                <a16:creationId xmlns:a16="http://schemas.microsoft.com/office/drawing/2014/main" id="{86A396F6-5512-455A-A3F1-51F95449E05A}"/>
              </a:ext>
            </a:extLst>
          </p:cNvPr>
          <p:cNvSpPr>
            <a:spLocks noGrp="1"/>
          </p:cNvSpPr>
          <p:nvPr>
            <p:ph idx="1"/>
          </p:nvPr>
        </p:nvSpPr>
        <p:spPr>
          <a:xfrm>
            <a:off x="6485938" y="1737360"/>
            <a:ext cx="5151880" cy="4613564"/>
          </a:xfrm>
        </p:spPr>
        <p:txBody>
          <a:bodyPr>
            <a:normAutofit/>
          </a:bodyPr>
          <a:lstStyle/>
          <a:p>
            <a:r>
              <a:rPr kumimoji="1" lang="ja-JP" altLang="en-US" sz="2800" dirty="0"/>
              <a:t>これで</a:t>
            </a:r>
            <a:r>
              <a:rPr kumimoji="1" lang="en-US" altLang="ja-JP" sz="2800" dirty="0"/>
              <a:t>fileA.txt</a:t>
            </a:r>
            <a:r>
              <a:rPr kumimoji="1" lang="ja-JP" altLang="en-US" sz="2800" dirty="0" err="1"/>
              <a:t>を改</a:t>
            </a:r>
            <a:r>
              <a:rPr kumimoji="1" lang="ja-JP" altLang="en-US" sz="2800" dirty="0"/>
              <a:t>修した</a:t>
            </a:r>
            <a:r>
              <a:rPr kumimoji="1" lang="en-US" altLang="ja-JP" sz="2800" dirty="0" err="1"/>
              <a:t>branchA</a:t>
            </a:r>
            <a:r>
              <a:rPr kumimoji="1" lang="ja-JP" altLang="en-US" sz="2800" dirty="0"/>
              <a:t>を用意できたわけだが、今回は一人で</a:t>
            </a:r>
            <a:r>
              <a:rPr lang="en-US" altLang="ja-JP" sz="2800" dirty="0"/>
              <a:t>B</a:t>
            </a:r>
            <a:r>
              <a:rPr lang="ja-JP" altLang="en-US" sz="2800" dirty="0"/>
              <a:t>さん、</a:t>
            </a:r>
            <a:r>
              <a:rPr lang="en-US" altLang="ja-JP" sz="2800" dirty="0"/>
              <a:t>C</a:t>
            </a:r>
            <a:r>
              <a:rPr lang="ja-JP" altLang="en-US" sz="2800" dirty="0" err="1"/>
              <a:t>さん</a:t>
            </a:r>
            <a:r>
              <a:rPr lang="ja-JP" altLang="en-US" sz="2800" dirty="0"/>
              <a:t>役も行う。</a:t>
            </a:r>
            <a:endParaRPr lang="en-US" altLang="ja-JP" sz="2800" dirty="0"/>
          </a:p>
          <a:p>
            <a:endParaRPr lang="en-US" altLang="ja-JP" sz="2800" dirty="0"/>
          </a:p>
          <a:p>
            <a:r>
              <a:rPr kumimoji="1" lang="ja-JP" altLang="en-US" sz="2800" dirty="0"/>
              <a:t>手順はほとんど同じだが、</a:t>
            </a:r>
            <a:r>
              <a:rPr lang="ja-JP" altLang="en-US" sz="2800" dirty="0"/>
              <a:t>「</a:t>
            </a:r>
            <a:r>
              <a:rPr lang="en-US" altLang="ja-JP" sz="2800" dirty="0"/>
              <a:t>git checkout –b </a:t>
            </a:r>
            <a:r>
              <a:rPr lang="en-US" altLang="ja-JP" sz="2800" dirty="0" err="1"/>
              <a:t>branchB</a:t>
            </a:r>
            <a:r>
              <a:rPr lang="ja-JP" altLang="en-US" sz="2800" dirty="0"/>
              <a:t>」を打つ前に、「</a:t>
            </a:r>
            <a:r>
              <a:rPr lang="en-US" altLang="ja-JP" sz="2800" dirty="0"/>
              <a:t>git checkout master</a:t>
            </a:r>
            <a:r>
              <a:rPr lang="ja-JP" altLang="en-US" sz="2800" dirty="0"/>
              <a:t>」して「</a:t>
            </a:r>
            <a:r>
              <a:rPr lang="en-US" altLang="ja-JP" sz="2800" dirty="0"/>
              <a:t>git branch –a</a:t>
            </a:r>
            <a:r>
              <a:rPr lang="ja-JP" altLang="en-US" sz="2800" dirty="0"/>
              <a:t>」で</a:t>
            </a:r>
            <a:r>
              <a:rPr lang="en-US" altLang="ja-JP" sz="2800" dirty="0"/>
              <a:t>master</a:t>
            </a:r>
            <a:r>
              <a:rPr lang="ja-JP" altLang="en-US" sz="2800" dirty="0"/>
              <a:t>が</a:t>
            </a:r>
            <a:r>
              <a:rPr lang="ja-JP" altLang="en-US" sz="2800" dirty="0">
                <a:solidFill>
                  <a:srgbClr val="00B050"/>
                </a:solidFill>
              </a:rPr>
              <a:t>緑色</a:t>
            </a:r>
            <a:r>
              <a:rPr lang="ja-JP" altLang="en-US" sz="2800" dirty="0"/>
              <a:t>になっているのを必ず確認する</a:t>
            </a:r>
            <a:endParaRPr lang="en-US" altLang="ja-JP" sz="2800" dirty="0"/>
          </a:p>
        </p:txBody>
      </p:sp>
      <p:pic>
        <p:nvPicPr>
          <p:cNvPr id="5" name="図 4" descr="コマンド プロンプト">
            <a:extLst>
              <a:ext uri="{FF2B5EF4-FFF2-40B4-BE49-F238E27FC236}">
                <a16:creationId xmlns:a16="http://schemas.microsoft.com/office/drawing/2014/main" id="{45B221C0-CC04-45CA-8079-D1D379F54A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6559" y="1923919"/>
            <a:ext cx="5151880" cy="3666653"/>
          </a:xfrm>
          <a:prstGeom prst="rect">
            <a:avLst/>
          </a:prstGeom>
        </p:spPr>
      </p:pic>
      <p:sp>
        <p:nvSpPr>
          <p:cNvPr id="6" name="円: 塗りつぶしなし 5">
            <a:extLst>
              <a:ext uri="{FF2B5EF4-FFF2-40B4-BE49-F238E27FC236}">
                <a16:creationId xmlns:a16="http://schemas.microsoft.com/office/drawing/2014/main" id="{135D5E8A-110A-4E4C-8FBF-E2FC4A4C7151}"/>
              </a:ext>
            </a:extLst>
          </p:cNvPr>
          <p:cNvSpPr/>
          <p:nvPr/>
        </p:nvSpPr>
        <p:spPr>
          <a:xfrm>
            <a:off x="1373565" y="2346450"/>
            <a:ext cx="744601" cy="738820"/>
          </a:xfrm>
          <a:prstGeom prst="donut">
            <a:avLst>
              <a:gd name="adj" fmla="val 417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solidFill>
                <a:schemeClr val="tx1"/>
              </a:solidFill>
            </a:endParaRPr>
          </a:p>
        </p:txBody>
      </p:sp>
      <p:sp>
        <p:nvSpPr>
          <p:cNvPr id="7" name="円: 塗りつぶしなし 6">
            <a:extLst>
              <a:ext uri="{FF2B5EF4-FFF2-40B4-BE49-F238E27FC236}">
                <a16:creationId xmlns:a16="http://schemas.microsoft.com/office/drawing/2014/main" id="{DA9D023C-F180-4867-9831-4B8ACA2E63E0}"/>
              </a:ext>
            </a:extLst>
          </p:cNvPr>
          <p:cNvSpPr/>
          <p:nvPr/>
        </p:nvSpPr>
        <p:spPr>
          <a:xfrm>
            <a:off x="1373565" y="4094209"/>
            <a:ext cx="744601" cy="738819"/>
          </a:xfrm>
          <a:prstGeom prst="donut">
            <a:avLst>
              <a:gd name="adj" fmla="val 417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1345174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D849EA-7FF2-43B2-9B94-2313DABDCECE}"/>
              </a:ext>
            </a:extLst>
          </p:cNvPr>
          <p:cNvSpPr>
            <a:spLocks noGrp="1"/>
          </p:cNvSpPr>
          <p:nvPr>
            <p:ph type="title"/>
          </p:nvPr>
        </p:nvSpPr>
        <p:spPr/>
        <p:txBody>
          <a:bodyPr/>
          <a:lstStyle/>
          <a:p>
            <a:r>
              <a:rPr lang="ja-JP" altLang="en-US" dirty="0"/>
              <a:t>１０</a:t>
            </a:r>
            <a:r>
              <a:rPr kumimoji="1" lang="ja-JP" altLang="en-US" dirty="0"/>
              <a:t>．</a:t>
            </a:r>
            <a:r>
              <a:rPr lang="ja-JP" altLang="en-US" dirty="0"/>
              <a:t>修正を一つにまとめよう！</a:t>
            </a:r>
            <a:endParaRPr kumimoji="1" lang="ja-JP" altLang="en-US" dirty="0"/>
          </a:p>
        </p:txBody>
      </p:sp>
      <p:sp>
        <p:nvSpPr>
          <p:cNvPr id="3" name="コンテンツ プレースホルダー 2">
            <a:extLst>
              <a:ext uri="{FF2B5EF4-FFF2-40B4-BE49-F238E27FC236}">
                <a16:creationId xmlns:a16="http://schemas.microsoft.com/office/drawing/2014/main" id="{CAB63761-4AB3-4F75-928D-6AAA13BE1F12}"/>
              </a:ext>
            </a:extLst>
          </p:cNvPr>
          <p:cNvSpPr>
            <a:spLocks noGrp="1"/>
          </p:cNvSpPr>
          <p:nvPr>
            <p:ph idx="1"/>
          </p:nvPr>
        </p:nvSpPr>
        <p:spPr>
          <a:xfrm>
            <a:off x="1097280" y="1845734"/>
            <a:ext cx="10307782" cy="1450757"/>
          </a:xfrm>
        </p:spPr>
        <p:txBody>
          <a:bodyPr>
            <a:normAutofit/>
          </a:bodyPr>
          <a:lstStyle/>
          <a:p>
            <a:r>
              <a:rPr kumimoji="1" lang="en-US" altLang="ja-JP" sz="2800" dirty="0"/>
              <a:t>B</a:t>
            </a:r>
            <a:r>
              <a:rPr kumimoji="1" lang="ja-JP" altLang="en-US" sz="2800" dirty="0"/>
              <a:t>さん、</a:t>
            </a:r>
            <a:r>
              <a:rPr kumimoji="1" lang="en-US" altLang="ja-JP" sz="2800" dirty="0"/>
              <a:t>C</a:t>
            </a:r>
            <a:r>
              <a:rPr kumimoji="1" lang="ja-JP" altLang="en-US" sz="2800" dirty="0" err="1"/>
              <a:t>さんも</a:t>
            </a:r>
            <a:r>
              <a:rPr kumimoji="1" lang="ja-JP" altLang="en-US" sz="2800" dirty="0"/>
              <a:t>同様にエラーを修正、</a:t>
            </a:r>
            <a:r>
              <a:rPr kumimoji="1" lang="en-US" altLang="ja-JP" sz="2800" dirty="0"/>
              <a:t>push</a:t>
            </a:r>
            <a:r>
              <a:rPr kumimoji="1" lang="ja-JP" altLang="en-US" sz="2800" dirty="0"/>
              <a:t>して、ブランチが下の図のように</a:t>
            </a:r>
            <a:r>
              <a:rPr kumimoji="1" lang="en-US" altLang="ja-JP" sz="2800" dirty="0"/>
              <a:t>master</a:t>
            </a:r>
            <a:r>
              <a:rPr kumimoji="1" lang="ja-JP" altLang="en-US" sz="2800" dirty="0"/>
              <a:t>の他に３つできたとします。それぞれのブランチが持つ変更をリーダーの方が</a:t>
            </a:r>
            <a:r>
              <a:rPr kumimoji="1" lang="en-US" altLang="ja-JP" sz="2800" dirty="0"/>
              <a:t>master</a:t>
            </a:r>
            <a:r>
              <a:rPr kumimoji="1" lang="ja-JP" altLang="en-US" sz="2800" dirty="0"/>
              <a:t>ブランチに</a:t>
            </a:r>
            <a:r>
              <a:rPr lang="ja-JP" altLang="en-US" sz="2800" dirty="0"/>
              <a:t>まとめることにします。</a:t>
            </a:r>
            <a:endParaRPr kumimoji="1" lang="ja-JP" altLang="en-US" sz="2800" dirty="0"/>
          </a:p>
        </p:txBody>
      </p:sp>
      <p:pic>
        <p:nvPicPr>
          <p:cNvPr id="4" name="図 3">
            <a:extLst>
              <a:ext uri="{FF2B5EF4-FFF2-40B4-BE49-F238E27FC236}">
                <a16:creationId xmlns:a16="http://schemas.microsoft.com/office/drawing/2014/main" id="{75E7E80C-E9D0-4BC2-8B4E-5C9A50C205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385" y="3421998"/>
            <a:ext cx="1525382" cy="1144037"/>
          </a:xfrm>
          <a:prstGeom prst="rect">
            <a:avLst/>
          </a:prstGeom>
        </p:spPr>
      </p:pic>
      <p:sp>
        <p:nvSpPr>
          <p:cNvPr id="5" name="テキスト ボックス 4">
            <a:extLst>
              <a:ext uri="{FF2B5EF4-FFF2-40B4-BE49-F238E27FC236}">
                <a16:creationId xmlns:a16="http://schemas.microsoft.com/office/drawing/2014/main" id="{B5A336F9-62DE-4164-AC77-BCCE808C6DCC}"/>
              </a:ext>
            </a:extLst>
          </p:cNvPr>
          <p:cNvSpPr txBox="1"/>
          <p:nvPr/>
        </p:nvSpPr>
        <p:spPr>
          <a:xfrm>
            <a:off x="94385" y="2935099"/>
            <a:ext cx="1621009" cy="523220"/>
          </a:xfrm>
          <a:prstGeom prst="rect">
            <a:avLst/>
          </a:prstGeom>
          <a:noFill/>
        </p:spPr>
        <p:txBody>
          <a:bodyPr wrap="square" rtlCol="0">
            <a:spAutoFit/>
          </a:bodyPr>
          <a:lstStyle/>
          <a:p>
            <a:r>
              <a:rPr kumimoji="1" lang="ja-JP" altLang="en-US" sz="2800" dirty="0"/>
              <a:t>リーダー</a:t>
            </a:r>
          </a:p>
        </p:txBody>
      </p:sp>
      <p:pic>
        <p:nvPicPr>
          <p:cNvPr id="6" name="コンテンツ プレースホルダー 4">
            <a:extLst>
              <a:ext uri="{FF2B5EF4-FFF2-40B4-BE49-F238E27FC236}">
                <a16:creationId xmlns:a16="http://schemas.microsoft.com/office/drawing/2014/main" id="{9F9F34A6-8A33-4C0A-9646-5953AC1738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4042" y="4720565"/>
            <a:ext cx="1549667" cy="1549667"/>
          </a:xfrm>
          <a:prstGeom prst="rect">
            <a:avLst/>
          </a:prstGeom>
        </p:spPr>
      </p:pic>
      <p:sp>
        <p:nvSpPr>
          <p:cNvPr id="7" name="テキスト ボックス 6">
            <a:extLst>
              <a:ext uri="{FF2B5EF4-FFF2-40B4-BE49-F238E27FC236}">
                <a16:creationId xmlns:a16="http://schemas.microsoft.com/office/drawing/2014/main" id="{15C11525-110C-4DC9-9526-A08C73AA1B92}"/>
              </a:ext>
            </a:extLst>
          </p:cNvPr>
          <p:cNvSpPr txBox="1"/>
          <p:nvPr/>
        </p:nvSpPr>
        <p:spPr>
          <a:xfrm>
            <a:off x="6732998" y="4578591"/>
            <a:ext cx="1838426" cy="523220"/>
          </a:xfrm>
          <a:prstGeom prst="rect">
            <a:avLst/>
          </a:prstGeom>
          <a:noFill/>
        </p:spPr>
        <p:txBody>
          <a:bodyPr wrap="square" rtlCol="0">
            <a:spAutoFit/>
          </a:bodyPr>
          <a:lstStyle/>
          <a:p>
            <a:r>
              <a:rPr kumimoji="1" lang="en-US" altLang="ja-JP" sz="2800" dirty="0" err="1"/>
              <a:t>branchA</a:t>
            </a:r>
            <a:endParaRPr kumimoji="1" lang="ja-JP" altLang="en-US" sz="2800" dirty="0"/>
          </a:p>
        </p:txBody>
      </p:sp>
      <p:pic>
        <p:nvPicPr>
          <p:cNvPr id="8" name="コンテンツ プレースホルダー 4">
            <a:extLst>
              <a:ext uri="{FF2B5EF4-FFF2-40B4-BE49-F238E27FC236}">
                <a16:creationId xmlns:a16="http://schemas.microsoft.com/office/drawing/2014/main" id="{9BF0953B-08E3-4BA6-9325-CC710610F1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6095" y="4727863"/>
            <a:ext cx="1549667" cy="1549667"/>
          </a:xfrm>
          <a:prstGeom prst="rect">
            <a:avLst/>
          </a:prstGeom>
        </p:spPr>
      </p:pic>
      <p:sp>
        <p:nvSpPr>
          <p:cNvPr id="9" name="テキスト ボックス 8">
            <a:extLst>
              <a:ext uri="{FF2B5EF4-FFF2-40B4-BE49-F238E27FC236}">
                <a16:creationId xmlns:a16="http://schemas.microsoft.com/office/drawing/2014/main" id="{CC7D227F-C391-478A-AC1B-D34A2D3DEF1E}"/>
              </a:ext>
            </a:extLst>
          </p:cNvPr>
          <p:cNvSpPr txBox="1"/>
          <p:nvPr/>
        </p:nvSpPr>
        <p:spPr>
          <a:xfrm>
            <a:off x="8595053" y="4648604"/>
            <a:ext cx="1838426" cy="523220"/>
          </a:xfrm>
          <a:prstGeom prst="rect">
            <a:avLst/>
          </a:prstGeom>
          <a:noFill/>
        </p:spPr>
        <p:txBody>
          <a:bodyPr wrap="square" rtlCol="0">
            <a:spAutoFit/>
          </a:bodyPr>
          <a:lstStyle/>
          <a:p>
            <a:r>
              <a:rPr kumimoji="1" lang="en-US" altLang="ja-JP" sz="2800" dirty="0" err="1"/>
              <a:t>branchB</a:t>
            </a:r>
            <a:endParaRPr kumimoji="1" lang="ja-JP" altLang="en-US" sz="2800" dirty="0"/>
          </a:p>
        </p:txBody>
      </p:sp>
      <p:pic>
        <p:nvPicPr>
          <p:cNvPr id="10" name="コンテンツ プレースホルダー 4">
            <a:extLst>
              <a:ext uri="{FF2B5EF4-FFF2-40B4-BE49-F238E27FC236}">
                <a16:creationId xmlns:a16="http://schemas.microsoft.com/office/drawing/2014/main" id="{882CE112-4545-44C7-8561-448D523B2E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07919" y="4773212"/>
            <a:ext cx="1549667" cy="1549667"/>
          </a:xfrm>
          <a:prstGeom prst="rect">
            <a:avLst/>
          </a:prstGeom>
        </p:spPr>
      </p:pic>
      <p:sp>
        <p:nvSpPr>
          <p:cNvPr id="11" name="テキスト ボックス 10">
            <a:extLst>
              <a:ext uri="{FF2B5EF4-FFF2-40B4-BE49-F238E27FC236}">
                <a16:creationId xmlns:a16="http://schemas.microsoft.com/office/drawing/2014/main" id="{1D8FA878-52E8-4DB8-A9CB-7A87A2AC6B43}"/>
              </a:ext>
            </a:extLst>
          </p:cNvPr>
          <p:cNvSpPr txBox="1"/>
          <p:nvPr/>
        </p:nvSpPr>
        <p:spPr>
          <a:xfrm>
            <a:off x="10326875" y="4631238"/>
            <a:ext cx="1838426" cy="523220"/>
          </a:xfrm>
          <a:prstGeom prst="rect">
            <a:avLst/>
          </a:prstGeom>
          <a:noFill/>
        </p:spPr>
        <p:txBody>
          <a:bodyPr wrap="square" rtlCol="0">
            <a:spAutoFit/>
          </a:bodyPr>
          <a:lstStyle/>
          <a:p>
            <a:r>
              <a:rPr kumimoji="1" lang="en-US" altLang="ja-JP" sz="2800" dirty="0" err="1"/>
              <a:t>branchC</a:t>
            </a:r>
            <a:endParaRPr kumimoji="1" lang="ja-JP" altLang="en-US" sz="2800" dirty="0"/>
          </a:p>
        </p:txBody>
      </p:sp>
      <p:pic>
        <p:nvPicPr>
          <p:cNvPr id="12" name="コンテンツ プレースホルダー 4">
            <a:extLst>
              <a:ext uri="{FF2B5EF4-FFF2-40B4-BE49-F238E27FC236}">
                <a16:creationId xmlns:a16="http://schemas.microsoft.com/office/drawing/2014/main" id="{70CB467D-9210-4A5C-8FF7-B25B36C274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3031" y="4727863"/>
            <a:ext cx="1549667" cy="1549667"/>
          </a:xfrm>
          <a:prstGeom prst="rect">
            <a:avLst/>
          </a:prstGeom>
        </p:spPr>
      </p:pic>
      <p:sp>
        <p:nvSpPr>
          <p:cNvPr id="13" name="テキスト ボックス 12">
            <a:extLst>
              <a:ext uri="{FF2B5EF4-FFF2-40B4-BE49-F238E27FC236}">
                <a16:creationId xmlns:a16="http://schemas.microsoft.com/office/drawing/2014/main" id="{F157FFA2-F52B-4FA2-8B18-D79395E61067}"/>
              </a:ext>
            </a:extLst>
          </p:cNvPr>
          <p:cNvSpPr txBox="1"/>
          <p:nvPr/>
        </p:nvSpPr>
        <p:spPr>
          <a:xfrm>
            <a:off x="5051490" y="4585889"/>
            <a:ext cx="1838426" cy="523220"/>
          </a:xfrm>
          <a:prstGeom prst="rect">
            <a:avLst/>
          </a:prstGeom>
          <a:noFill/>
        </p:spPr>
        <p:txBody>
          <a:bodyPr wrap="square" rtlCol="0">
            <a:spAutoFit/>
          </a:bodyPr>
          <a:lstStyle/>
          <a:p>
            <a:r>
              <a:rPr kumimoji="1" lang="en-US" altLang="ja-JP" sz="2800" dirty="0"/>
              <a:t>master</a:t>
            </a:r>
            <a:endParaRPr kumimoji="1" lang="ja-JP" altLang="en-US" sz="2800" dirty="0"/>
          </a:p>
        </p:txBody>
      </p:sp>
      <p:sp>
        <p:nvSpPr>
          <p:cNvPr id="15" name="左中かっこ 14">
            <a:extLst>
              <a:ext uri="{FF2B5EF4-FFF2-40B4-BE49-F238E27FC236}">
                <a16:creationId xmlns:a16="http://schemas.microsoft.com/office/drawing/2014/main" id="{EF34C715-402C-4BDD-BF82-BF67BAB08B44}"/>
              </a:ext>
            </a:extLst>
          </p:cNvPr>
          <p:cNvSpPr/>
          <p:nvPr/>
        </p:nvSpPr>
        <p:spPr>
          <a:xfrm rot="5400000">
            <a:off x="8627513" y="1495223"/>
            <a:ext cx="1129490" cy="5330655"/>
          </a:xfrm>
          <a:prstGeom prst="leftBrace">
            <a:avLst>
              <a:gd name="adj1" fmla="val 8333"/>
              <a:gd name="adj2" fmla="val 5093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6" name="矢印: 右カーブ 15">
            <a:extLst>
              <a:ext uri="{FF2B5EF4-FFF2-40B4-BE49-F238E27FC236}">
                <a16:creationId xmlns:a16="http://schemas.microsoft.com/office/drawing/2014/main" id="{FDAAF392-4F35-4D46-ABFF-3C537FA79E81}"/>
              </a:ext>
            </a:extLst>
          </p:cNvPr>
          <p:cNvSpPr/>
          <p:nvPr/>
        </p:nvSpPr>
        <p:spPr>
          <a:xfrm rot="4572971">
            <a:off x="6692321" y="1634048"/>
            <a:ext cx="1131410" cy="412576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18" name="図 17" descr="Branches · YoshikiAkashi/gitTest - Internet Explorer">
            <a:hlinkClick r:id="rId4"/>
            <a:extLst>
              <a:ext uri="{FF2B5EF4-FFF2-40B4-BE49-F238E27FC236}">
                <a16:creationId xmlns:a16="http://schemas.microsoft.com/office/drawing/2014/main" id="{A074FC1F-5775-4177-AFE7-5009955FAD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7281" y="3375077"/>
            <a:ext cx="3840330" cy="3000497"/>
          </a:xfrm>
          <a:prstGeom prst="rect">
            <a:avLst/>
          </a:prstGeom>
        </p:spPr>
      </p:pic>
      <p:sp>
        <p:nvSpPr>
          <p:cNvPr id="17" name="円: 塗りつぶしなし 16">
            <a:extLst>
              <a:ext uri="{FF2B5EF4-FFF2-40B4-BE49-F238E27FC236}">
                <a16:creationId xmlns:a16="http://schemas.microsoft.com/office/drawing/2014/main" id="{88BA466C-EA60-4262-86F8-D884E621BBB5}"/>
              </a:ext>
            </a:extLst>
          </p:cNvPr>
          <p:cNvSpPr/>
          <p:nvPr/>
        </p:nvSpPr>
        <p:spPr>
          <a:xfrm>
            <a:off x="879088" y="4910246"/>
            <a:ext cx="827072" cy="829011"/>
          </a:xfrm>
          <a:prstGeom prst="donut">
            <a:avLst>
              <a:gd name="adj" fmla="val 417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984270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E63886-186F-455B-84F9-3F610D0B3F6B}"/>
              </a:ext>
            </a:extLst>
          </p:cNvPr>
          <p:cNvSpPr>
            <a:spLocks noGrp="1"/>
          </p:cNvSpPr>
          <p:nvPr>
            <p:ph type="title"/>
          </p:nvPr>
        </p:nvSpPr>
        <p:spPr/>
        <p:txBody>
          <a:bodyPr/>
          <a:lstStyle/>
          <a:p>
            <a:r>
              <a:rPr lang="ja-JP" altLang="en-US" dirty="0"/>
              <a:t>１０</a:t>
            </a:r>
            <a:r>
              <a:rPr kumimoji="1" lang="ja-JP" altLang="en-US" dirty="0"/>
              <a:t>．</a:t>
            </a:r>
          </a:p>
        </p:txBody>
      </p:sp>
      <p:sp>
        <p:nvSpPr>
          <p:cNvPr id="3" name="コンテンツ プレースホルダー 2">
            <a:extLst>
              <a:ext uri="{FF2B5EF4-FFF2-40B4-BE49-F238E27FC236}">
                <a16:creationId xmlns:a16="http://schemas.microsoft.com/office/drawing/2014/main" id="{9E8D12E0-7C68-4157-9371-877B3427428B}"/>
              </a:ext>
            </a:extLst>
          </p:cNvPr>
          <p:cNvSpPr>
            <a:spLocks noGrp="1"/>
          </p:cNvSpPr>
          <p:nvPr>
            <p:ph idx="1"/>
          </p:nvPr>
        </p:nvSpPr>
        <p:spPr>
          <a:xfrm>
            <a:off x="6417424" y="1845734"/>
            <a:ext cx="4738255" cy="4023360"/>
          </a:xfrm>
        </p:spPr>
        <p:txBody>
          <a:bodyPr>
            <a:normAutofit lnSpcReduction="10000"/>
          </a:bodyPr>
          <a:lstStyle/>
          <a:p>
            <a:r>
              <a:rPr kumimoji="1" lang="ja-JP" altLang="en-US" sz="2800" dirty="0"/>
              <a:t>リーダーの現状は本スライド「３．</a:t>
            </a:r>
            <a:r>
              <a:rPr kumimoji="1" lang="en-US" altLang="ja-JP" sz="2800" dirty="0"/>
              <a:t>A</a:t>
            </a:r>
            <a:r>
              <a:rPr kumimoji="1" lang="ja-JP" altLang="en-US" sz="2800" dirty="0" err="1"/>
              <a:t>さんの</a:t>
            </a:r>
            <a:r>
              <a:rPr kumimoji="1" lang="ja-JP" altLang="en-US" sz="2800" dirty="0"/>
              <a:t>現状」と同じである</a:t>
            </a:r>
            <a:r>
              <a:rPr kumimoji="1" lang="en-US" altLang="ja-JP" sz="2800" dirty="0"/>
              <a:t>…</a:t>
            </a:r>
          </a:p>
          <a:p>
            <a:r>
              <a:rPr kumimoji="1" lang="ja-JP" altLang="en-US" sz="2800" dirty="0"/>
              <a:t>はずだが、</a:t>
            </a:r>
            <a:r>
              <a:rPr kumimoji="1" lang="en-US" altLang="ja-JP" sz="2800" dirty="0" err="1"/>
              <a:t>branchB</a:t>
            </a:r>
            <a:r>
              <a:rPr kumimoji="1" lang="ja-JP" altLang="en-US" sz="2800" dirty="0" err="1"/>
              <a:t>、</a:t>
            </a:r>
            <a:r>
              <a:rPr kumimoji="1" lang="en-US" altLang="ja-JP" sz="2800" dirty="0"/>
              <a:t>C</a:t>
            </a:r>
            <a:r>
              <a:rPr lang="ja-JP" altLang="en-US" sz="2800" dirty="0"/>
              <a:t>の</a:t>
            </a:r>
            <a:r>
              <a:rPr lang="en-US" altLang="ja-JP" sz="2800" dirty="0"/>
              <a:t>push</a:t>
            </a:r>
            <a:r>
              <a:rPr lang="ja-JP" altLang="en-US" sz="2800" dirty="0" err="1"/>
              <a:t>まで</a:t>
            </a:r>
            <a:r>
              <a:rPr kumimoji="1" lang="ja-JP" altLang="en-US" sz="2800" dirty="0"/>
              <a:t>一人で行った場合、ブランチの状況が左のようになっているだろう。</a:t>
            </a:r>
            <a:endParaRPr kumimoji="1" lang="en-US" altLang="ja-JP" sz="2800" dirty="0"/>
          </a:p>
          <a:p>
            <a:endParaRPr kumimoji="1" lang="en-US" altLang="ja-JP" sz="2800" dirty="0"/>
          </a:p>
          <a:p>
            <a:r>
              <a:rPr lang="ja-JP" altLang="en-US" sz="2800" dirty="0"/>
              <a:t>本来の動きは本スライド「１３．」（２０枚目）で記述する。</a:t>
            </a:r>
            <a:endParaRPr lang="en-US" altLang="ja-JP" sz="2800" dirty="0"/>
          </a:p>
        </p:txBody>
      </p:sp>
      <p:pic>
        <p:nvPicPr>
          <p:cNvPr id="4" name="図 3">
            <a:extLst>
              <a:ext uri="{FF2B5EF4-FFF2-40B4-BE49-F238E27FC236}">
                <a16:creationId xmlns:a16="http://schemas.microsoft.com/office/drawing/2014/main" id="{59BA4094-54BA-473B-BD7C-A5037AA866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464" y="2332633"/>
            <a:ext cx="1525382" cy="1144037"/>
          </a:xfrm>
          <a:prstGeom prst="rect">
            <a:avLst/>
          </a:prstGeom>
        </p:spPr>
      </p:pic>
      <p:sp>
        <p:nvSpPr>
          <p:cNvPr id="5" name="テキスト ボックス 4">
            <a:extLst>
              <a:ext uri="{FF2B5EF4-FFF2-40B4-BE49-F238E27FC236}">
                <a16:creationId xmlns:a16="http://schemas.microsoft.com/office/drawing/2014/main" id="{E6E7EC79-BABB-4955-A21D-53A70343BDFB}"/>
              </a:ext>
            </a:extLst>
          </p:cNvPr>
          <p:cNvSpPr txBox="1"/>
          <p:nvPr/>
        </p:nvSpPr>
        <p:spPr>
          <a:xfrm>
            <a:off x="611464" y="1845734"/>
            <a:ext cx="1621009" cy="523220"/>
          </a:xfrm>
          <a:prstGeom prst="rect">
            <a:avLst/>
          </a:prstGeom>
          <a:noFill/>
        </p:spPr>
        <p:txBody>
          <a:bodyPr wrap="square" rtlCol="0">
            <a:spAutoFit/>
          </a:bodyPr>
          <a:lstStyle/>
          <a:p>
            <a:r>
              <a:rPr kumimoji="1" lang="ja-JP" altLang="en-US" sz="2800" dirty="0"/>
              <a:t>リーダー</a:t>
            </a:r>
          </a:p>
        </p:txBody>
      </p:sp>
      <p:pic>
        <p:nvPicPr>
          <p:cNvPr id="7" name="図 6" descr="コマンド プロンプト">
            <a:extLst>
              <a:ext uri="{FF2B5EF4-FFF2-40B4-BE49-F238E27FC236}">
                <a16:creationId xmlns:a16="http://schemas.microsoft.com/office/drawing/2014/main" id="{3258DE1C-519A-44DF-A8BA-CD1884ED14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0936" y="2477328"/>
            <a:ext cx="4405522" cy="2643313"/>
          </a:xfrm>
          <a:prstGeom prst="rect">
            <a:avLst/>
          </a:prstGeom>
        </p:spPr>
      </p:pic>
    </p:spTree>
    <p:extLst>
      <p:ext uri="{BB962C8B-B14F-4D97-AF65-F5344CB8AC3E}">
        <p14:creationId xmlns:p14="http://schemas.microsoft.com/office/powerpoint/2010/main" val="1965597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descr="コマンド プロンプト">
            <a:extLst>
              <a:ext uri="{FF2B5EF4-FFF2-40B4-BE49-F238E27FC236}">
                <a16:creationId xmlns:a16="http://schemas.microsoft.com/office/drawing/2014/main" id="{05093FA5-982F-4A4F-8361-DB4D95A15A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7950" y="1958970"/>
            <a:ext cx="3800532" cy="2280319"/>
          </a:xfrm>
          <a:prstGeom prst="rect">
            <a:avLst/>
          </a:prstGeom>
        </p:spPr>
      </p:pic>
      <p:sp>
        <p:nvSpPr>
          <p:cNvPr id="2" name="タイトル 1">
            <a:extLst>
              <a:ext uri="{FF2B5EF4-FFF2-40B4-BE49-F238E27FC236}">
                <a16:creationId xmlns:a16="http://schemas.microsoft.com/office/drawing/2014/main" id="{6488AF8A-7B67-44DC-9DE0-B56AD6A89E03}"/>
              </a:ext>
            </a:extLst>
          </p:cNvPr>
          <p:cNvSpPr>
            <a:spLocks noGrp="1"/>
          </p:cNvSpPr>
          <p:nvPr>
            <p:ph type="title"/>
          </p:nvPr>
        </p:nvSpPr>
        <p:spPr/>
        <p:txBody>
          <a:bodyPr/>
          <a:lstStyle/>
          <a:p>
            <a:r>
              <a:rPr lang="ja-JP" altLang="en-US" dirty="0"/>
              <a:t>１０</a:t>
            </a:r>
            <a:r>
              <a:rPr kumimoji="1" lang="ja-JP" altLang="en-US" dirty="0"/>
              <a:t>．</a:t>
            </a:r>
          </a:p>
        </p:txBody>
      </p:sp>
      <p:sp>
        <p:nvSpPr>
          <p:cNvPr id="3" name="コンテンツ プレースホルダー 2">
            <a:extLst>
              <a:ext uri="{FF2B5EF4-FFF2-40B4-BE49-F238E27FC236}">
                <a16:creationId xmlns:a16="http://schemas.microsoft.com/office/drawing/2014/main" id="{A3E6FBD8-5CD8-4089-96C2-600A4DAA40E0}"/>
              </a:ext>
            </a:extLst>
          </p:cNvPr>
          <p:cNvSpPr>
            <a:spLocks noGrp="1"/>
          </p:cNvSpPr>
          <p:nvPr>
            <p:ph idx="1"/>
          </p:nvPr>
        </p:nvSpPr>
        <p:spPr>
          <a:xfrm>
            <a:off x="6997433" y="1720342"/>
            <a:ext cx="4953167" cy="4588317"/>
          </a:xfrm>
        </p:spPr>
        <p:txBody>
          <a:bodyPr>
            <a:normAutofit lnSpcReduction="10000"/>
          </a:bodyPr>
          <a:lstStyle/>
          <a:p>
            <a:r>
              <a:rPr kumimoji="1" lang="ja-JP" altLang="en-US" sz="2800" dirty="0">
                <a:solidFill>
                  <a:srgbClr val="00B050"/>
                </a:solidFill>
              </a:rPr>
              <a:t>緑色</a:t>
            </a:r>
            <a:r>
              <a:rPr kumimoji="1" lang="ja-JP" altLang="en-US" sz="2800" dirty="0"/>
              <a:t>の現在いるローカルブランチ（</a:t>
            </a:r>
            <a:r>
              <a:rPr kumimoji="1" lang="ja-JP" altLang="en-US" sz="2800" dirty="0">
                <a:solidFill>
                  <a:srgbClr val="00B050"/>
                </a:solidFill>
              </a:rPr>
              <a:t>カレントブランチ</a:t>
            </a:r>
            <a:r>
              <a:rPr kumimoji="1" lang="ja-JP" altLang="en-US" sz="2800" dirty="0"/>
              <a:t>と言う）は</a:t>
            </a:r>
            <a:r>
              <a:rPr kumimoji="1" lang="en-US" altLang="ja-JP" sz="2800" dirty="0" err="1"/>
              <a:t>branchC</a:t>
            </a:r>
            <a:r>
              <a:rPr kumimoji="1" lang="ja-JP" altLang="en-US" sz="2800" dirty="0"/>
              <a:t>になっているので、</a:t>
            </a:r>
            <a:r>
              <a:rPr lang="ja-JP" altLang="en-US" sz="2800" dirty="0"/>
              <a:t>コマンド「</a:t>
            </a:r>
            <a:r>
              <a:rPr lang="en-US" altLang="ja-JP" sz="2800" dirty="0"/>
              <a:t>git checkout master</a:t>
            </a:r>
            <a:r>
              <a:rPr lang="ja-JP" altLang="en-US" sz="2800" dirty="0"/>
              <a:t>」で、これから</a:t>
            </a:r>
            <a:r>
              <a:rPr kumimoji="1" lang="ja-JP" altLang="en-US" sz="2800" dirty="0"/>
              <a:t>変更をまとめる</a:t>
            </a:r>
            <a:r>
              <a:rPr kumimoji="1" lang="en-US" altLang="ja-JP" sz="2800" dirty="0"/>
              <a:t>master</a:t>
            </a:r>
            <a:r>
              <a:rPr kumimoji="1" lang="ja-JP" altLang="en-US" sz="2800" dirty="0"/>
              <a:t>ブランチに移動する。</a:t>
            </a:r>
            <a:endParaRPr lang="en-US" altLang="ja-JP" sz="2800" dirty="0"/>
          </a:p>
          <a:p>
            <a:r>
              <a:rPr kumimoji="1" lang="ja-JP" altLang="en-US" sz="2800" dirty="0"/>
              <a:t>「</a:t>
            </a:r>
            <a:r>
              <a:rPr kumimoji="1" lang="en-US" altLang="ja-JP" sz="2800" dirty="0"/>
              <a:t>git branch –a</a:t>
            </a:r>
            <a:r>
              <a:rPr kumimoji="1" lang="ja-JP" altLang="en-US" sz="2800" dirty="0"/>
              <a:t>」で</a:t>
            </a:r>
            <a:r>
              <a:rPr kumimoji="1" lang="ja-JP" altLang="en-US" sz="2800" dirty="0">
                <a:solidFill>
                  <a:srgbClr val="00B050"/>
                </a:solidFill>
              </a:rPr>
              <a:t>緑色</a:t>
            </a:r>
            <a:r>
              <a:rPr kumimoji="1" lang="ja-JP" altLang="en-US" sz="2800" dirty="0"/>
              <a:t>の</a:t>
            </a:r>
            <a:r>
              <a:rPr kumimoji="1" lang="ja-JP" altLang="en-US" sz="2800" dirty="0">
                <a:solidFill>
                  <a:srgbClr val="00B050"/>
                </a:solidFill>
              </a:rPr>
              <a:t>カレントブランチ</a:t>
            </a:r>
            <a:r>
              <a:rPr kumimoji="1" lang="ja-JP" altLang="en-US" sz="2800" dirty="0"/>
              <a:t>が切り変わっているのが分かる</a:t>
            </a:r>
            <a:endParaRPr kumimoji="1" lang="en-US" altLang="ja-JP" sz="2800" dirty="0"/>
          </a:p>
          <a:p>
            <a:r>
              <a:rPr lang="en-US" altLang="ja-JP" sz="2800" dirty="0" err="1"/>
              <a:t>branchC</a:t>
            </a:r>
            <a:r>
              <a:rPr lang="ja-JP" altLang="en-US" sz="2800" dirty="0" err="1"/>
              <a:t>で修</a:t>
            </a:r>
            <a:r>
              <a:rPr lang="ja-JP" altLang="en-US" sz="2800" dirty="0"/>
              <a:t>正した</a:t>
            </a:r>
            <a:r>
              <a:rPr lang="en-US" altLang="ja-JP" sz="2800" dirty="0"/>
              <a:t>fileC.txt</a:t>
            </a:r>
            <a:r>
              <a:rPr lang="ja-JP" altLang="en-US" sz="2800" dirty="0"/>
              <a:t>を見ると「</a:t>
            </a:r>
            <a:r>
              <a:rPr lang="en-US" altLang="ja-JP" sz="2800" dirty="0" err="1"/>
              <a:t>errorC</a:t>
            </a:r>
            <a:r>
              <a:rPr lang="en-US" altLang="ja-JP" sz="2800" dirty="0"/>
              <a:t> happened</a:t>
            </a:r>
            <a:r>
              <a:rPr lang="ja-JP" altLang="en-US" sz="2800" dirty="0"/>
              <a:t>」と元に戻っているのが確認できる。</a:t>
            </a:r>
            <a:endParaRPr kumimoji="1" lang="ja-JP" altLang="en-US" sz="2800" dirty="0"/>
          </a:p>
        </p:txBody>
      </p:sp>
      <p:pic>
        <p:nvPicPr>
          <p:cNvPr id="4" name="図 3">
            <a:extLst>
              <a:ext uri="{FF2B5EF4-FFF2-40B4-BE49-F238E27FC236}">
                <a16:creationId xmlns:a16="http://schemas.microsoft.com/office/drawing/2014/main" id="{B61F43CD-046C-4075-841F-50C40FB2F0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477" y="2536434"/>
            <a:ext cx="1525382" cy="1144037"/>
          </a:xfrm>
          <a:prstGeom prst="rect">
            <a:avLst/>
          </a:prstGeom>
        </p:spPr>
      </p:pic>
      <p:sp>
        <p:nvSpPr>
          <p:cNvPr id="5" name="テキスト ボックス 4">
            <a:extLst>
              <a:ext uri="{FF2B5EF4-FFF2-40B4-BE49-F238E27FC236}">
                <a16:creationId xmlns:a16="http://schemas.microsoft.com/office/drawing/2014/main" id="{29BF460A-3E9B-4911-B044-68C032C7C4BD}"/>
              </a:ext>
            </a:extLst>
          </p:cNvPr>
          <p:cNvSpPr txBox="1"/>
          <p:nvPr/>
        </p:nvSpPr>
        <p:spPr>
          <a:xfrm>
            <a:off x="704477" y="2049535"/>
            <a:ext cx="1621009" cy="523220"/>
          </a:xfrm>
          <a:prstGeom prst="rect">
            <a:avLst/>
          </a:prstGeom>
          <a:noFill/>
        </p:spPr>
        <p:txBody>
          <a:bodyPr wrap="square" rtlCol="0">
            <a:spAutoFit/>
          </a:bodyPr>
          <a:lstStyle/>
          <a:p>
            <a:r>
              <a:rPr kumimoji="1" lang="ja-JP" altLang="en-US" sz="2800" dirty="0"/>
              <a:t>リーダー</a:t>
            </a:r>
          </a:p>
        </p:txBody>
      </p:sp>
      <p:pic>
        <p:nvPicPr>
          <p:cNvPr id="7" name="図 6" descr="コマンド プロンプト">
            <a:extLst>
              <a:ext uri="{FF2B5EF4-FFF2-40B4-BE49-F238E27FC236}">
                <a16:creationId xmlns:a16="http://schemas.microsoft.com/office/drawing/2014/main" id="{2B347894-5275-4BBD-B723-E668B57100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1399" y="3914435"/>
            <a:ext cx="3404009" cy="2308466"/>
          </a:xfrm>
          <a:prstGeom prst="rect">
            <a:avLst/>
          </a:prstGeom>
        </p:spPr>
      </p:pic>
      <p:sp>
        <p:nvSpPr>
          <p:cNvPr id="8" name="円: 塗りつぶしなし 7">
            <a:extLst>
              <a:ext uri="{FF2B5EF4-FFF2-40B4-BE49-F238E27FC236}">
                <a16:creationId xmlns:a16="http://schemas.microsoft.com/office/drawing/2014/main" id="{018276F8-565F-4DD3-8ED9-DBE12154E4C9}"/>
              </a:ext>
            </a:extLst>
          </p:cNvPr>
          <p:cNvSpPr/>
          <p:nvPr/>
        </p:nvSpPr>
        <p:spPr>
          <a:xfrm>
            <a:off x="3127950" y="2576945"/>
            <a:ext cx="946950" cy="472494"/>
          </a:xfrm>
          <a:prstGeom prst="donut">
            <a:avLst>
              <a:gd name="adj" fmla="val 417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solidFill>
                <a:schemeClr val="tx1"/>
              </a:solidFill>
            </a:endParaRPr>
          </a:p>
        </p:txBody>
      </p:sp>
      <p:sp>
        <p:nvSpPr>
          <p:cNvPr id="10" name="円: 塗りつぶしなし 9">
            <a:extLst>
              <a:ext uri="{FF2B5EF4-FFF2-40B4-BE49-F238E27FC236}">
                <a16:creationId xmlns:a16="http://schemas.microsoft.com/office/drawing/2014/main" id="{DF62B416-1C30-4B79-B670-9E0B05DF352F}"/>
              </a:ext>
            </a:extLst>
          </p:cNvPr>
          <p:cNvSpPr/>
          <p:nvPr/>
        </p:nvSpPr>
        <p:spPr>
          <a:xfrm>
            <a:off x="241399" y="5114510"/>
            <a:ext cx="946950" cy="472494"/>
          </a:xfrm>
          <a:prstGeom prst="donut">
            <a:avLst>
              <a:gd name="adj" fmla="val 417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solidFill>
                <a:schemeClr val="tx1"/>
              </a:solidFill>
            </a:endParaRPr>
          </a:p>
        </p:txBody>
      </p:sp>
      <p:sp>
        <p:nvSpPr>
          <p:cNvPr id="11" name="矢印: 左カーブ 10">
            <a:extLst>
              <a:ext uri="{FF2B5EF4-FFF2-40B4-BE49-F238E27FC236}">
                <a16:creationId xmlns:a16="http://schemas.microsoft.com/office/drawing/2014/main" id="{B97E5C53-6CFC-4084-8C02-2EE24DB73F31}"/>
              </a:ext>
            </a:extLst>
          </p:cNvPr>
          <p:cNvSpPr/>
          <p:nvPr/>
        </p:nvSpPr>
        <p:spPr>
          <a:xfrm rot="2736737">
            <a:off x="4176820" y="4205323"/>
            <a:ext cx="756578" cy="202537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4067430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B73696-B3D2-47FC-BDFC-31A04C58EA67}"/>
              </a:ext>
            </a:extLst>
          </p:cNvPr>
          <p:cNvSpPr>
            <a:spLocks noGrp="1"/>
          </p:cNvSpPr>
          <p:nvPr>
            <p:ph type="title"/>
          </p:nvPr>
        </p:nvSpPr>
        <p:spPr/>
        <p:txBody>
          <a:bodyPr/>
          <a:lstStyle/>
          <a:p>
            <a:r>
              <a:rPr lang="ja-JP" altLang="en-US" dirty="0"/>
              <a:t>１０</a:t>
            </a:r>
            <a:r>
              <a:rPr kumimoji="1" lang="ja-JP" altLang="en-US" dirty="0"/>
              <a:t>．</a:t>
            </a:r>
          </a:p>
        </p:txBody>
      </p:sp>
      <p:sp>
        <p:nvSpPr>
          <p:cNvPr id="3" name="コンテンツ プレースホルダー 2">
            <a:extLst>
              <a:ext uri="{FF2B5EF4-FFF2-40B4-BE49-F238E27FC236}">
                <a16:creationId xmlns:a16="http://schemas.microsoft.com/office/drawing/2014/main" id="{8E54AB63-308F-47C9-80E5-9B6B6282102D}"/>
              </a:ext>
            </a:extLst>
          </p:cNvPr>
          <p:cNvSpPr>
            <a:spLocks noGrp="1"/>
          </p:cNvSpPr>
          <p:nvPr>
            <p:ph idx="1"/>
          </p:nvPr>
        </p:nvSpPr>
        <p:spPr>
          <a:xfrm>
            <a:off x="6217920" y="1845734"/>
            <a:ext cx="5320145" cy="3673917"/>
          </a:xfrm>
        </p:spPr>
        <p:txBody>
          <a:bodyPr>
            <a:normAutofit/>
          </a:bodyPr>
          <a:lstStyle/>
          <a:p>
            <a:r>
              <a:rPr lang="ja-JP" altLang="en-US" sz="2800" dirty="0"/>
              <a:t>コマンド「</a:t>
            </a:r>
            <a:r>
              <a:rPr lang="en-US" altLang="ja-JP" sz="2800" dirty="0"/>
              <a:t>git merge origin/</a:t>
            </a:r>
            <a:r>
              <a:rPr lang="en-US" altLang="ja-JP" sz="2800" dirty="0" err="1"/>
              <a:t>branchA</a:t>
            </a:r>
            <a:r>
              <a:rPr lang="ja-JP" altLang="en-US" sz="2800" dirty="0"/>
              <a:t>」で</a:t>
            </a:r>
            <a:r>
              <a:rPr lang="en-US" altLang="ja-JP" sz="2800" dirty="0" err="1"/>
              <a:t>branchA</a:t>
            </a:r>
            <a:r>
              <a:rPr lang="ja-JP" altLang="en-US" sz="2800" dirty="0"/>
              <a:t>で行った変更のコミットを取り込む。</a:t>
            </a:r>
            <a:r>
              <a:rPr lang="en-US" altLang="ja-JP" sz="2800" dirty="0"/>
              <a:t>fileA.txt</a:t>
            </a:r>
            <a:r>
              <a:rPr lang="ja-JP" altLang="en-US" sz="2800" dirty="0"/>
              <a:t>を確認すると修正されているのが分かる。</a:t>
            </a:r>
            <a:endParaRPr lang="en-US" altLang="ja-JP" sz="2800" dirty="0"/>
          </a:p>
          <a:p>
            <a:endParaRPr kumimoji="1" lang="en-US" altLang="ja-JP" sz="2800" dirty="0"/>
          </a:p>
          <a:p>
            <a:r>
              <a:rPr lang="ja-JP" altLang="en-US" sz="2800" dirty="0"/>
              <a:t>同様に</a:t>
            </a:r>
            <a:r>
              <a:rPr lang="en-US" altLang="ja-JP" sz="2800" dirty="0" err="1"/>
              <a:t>branchB,C</a:t>
            </a:r>
            <a:r>
              <a:rPr lang="ja-JP" altLang="en-US" sz="2800" dirty="0"/>
              <a:t>についても行い、「</a:t>
            </a:r>
            <a:r>
              <a:rPr lang="en-US" altLang="ja-JP" sz="2800" dirty="0"/>
              <a:t>git status</a:t>
            </a:r>
            <a:r>
              <a:rPr lang="ja-JP" altLang="en-US" sz="2800" dirty="0"/>
              <a:t>」すると、左のように表示される。</a:t>
            </a:r>
            <a:endParaRPr kumimoji="1" lang="en-US" altLang="ja-JP" sz="2600" dirty="0"/>
          </a:p>
          <a:p>
            <a:endParaRPr kumimoji="1" lang="ja-JP" altLang="en-US" sz="2800" dirty="0"/>
          </a:p>
        </p:txBody>
      </p:sp>
      <p:pic>
        <p:nvPicPr>
          <p:cNvPr id="5" name="図 4" descr="コマンド プロンプト">
            <a:extLst>
              <a:ext uri="{FF2B5EF4-FFF2-40B4-BE49-F238E27FC236}">
                <a16:creationId xmlns:a16="http://schemas.microsoft.com/office/drawing/2014/main" id="{52871257-E517-4758-A1F3-072D8CAA34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9924" y="3405892"/>
            <a:ext cx="5287996" cy="2899003"/>
          </a:xfrm>
          <a:prstGeom prst="rect">
            <a:avLst/>
          </a:prstGeom>
        </p:spPr>
      </p:pic>
      <p:pic>
        <p:nvPicPr>
          <p:cNvPr id="6" name="図 5">
            <a:extLst>
              <a:ext uri="{FF2B5EF4-FFF2-40B4-BE49-F238E27FC236}">
                <a16:creationId xmlns:a16="http://schemas.microsoft.com/office/drawing/2014/main" id="{913299B3-1724-4C40-B792-7C77FE5A5C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282" y="2102593"/>
            <a:ext cx="1525382" cy="1144037"/>
          </a:xfrm>
          <a:prstGeom prst="rect">
            <a:avLst/>
          </a:prstGeom>
        </p:spPr>
      </p:pic>
      <p:sp>
        <p:nvSpPr>
          <p:cNvPr id="7" name="テキスト ボックス 6">
            <a:extLst>
              <a:ext uri="{FF2B5EF4-FFF2-40B4-BE49-F238E27FC236}">
                <a16:creationId xmlns:a16="http://schemas.microsoft.com/office/drawing/2014/main" id="{EE0794B5-AC3F-496A-979D-CF2FA4E62ACE}"/>
              </a:ext>
            </a:extLst>
          </p:cNvPr>
          <p:cNvSpPr txBox="1"/>
          <p:nvPr/>
        </p:nvSpPr>
        <p:spPr>
          <a:xfrm>
            <a:off x="727626" y="1840983"/>
            <a:ext cx="1621009" cy="523220"/>
          </a:xfrm>
          <a:prstGeom prst="rect">
            <a:avLst/>
          </a:prstGeom>
          <a:noFill/>
        </p:spPr>
        <p:txBody>
          <a:bodyPr wrap="square" rtlCol="0">
            <a:spAutoFit/>
          </a:bodyPr>
          <a:lstStyle/>
          <a:p>
            <a:r>
              <a:rPr kumimoji="1" lang="ja-JP" altLang="en-US" sz="2800" dirty="0"/>
              <a:t>リーダー</a:t>
            </a:r>
          </a:p>
        </p:txBody>
      </p:sp>
    </p:spTree>
    <p:extLst>
      <p:ext uri="{BB962C8B-B14F-4D97-AF65-F5344CB8AC3E}">
        <p14:creationId xmlns:p14="http://schemas.microsoft.com/office/powerpoint/2010/main" val="2002852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334001-715D-43EF-BBA4-1E4D440C88AB}"/>
              </a:ext>
            </a:extLst>
          </p:cNvPr>
          <p:cNvSpPr>
            <a:spLocks noGrp="1"/>
          </p:cNvSpPr>
          <p:nvPr>
            <p:ph type="title"/>
          </p:nvPr>
        </p:nvSpPr>
        <p:spPr/>
        <p:txBody>
          <a:bodyPr/>
          <a:lstStyle/>
          <a:p>
            <a:r>
              <a:rPr kumimoji="1" lang="ja-JP" altLang="en-US" dirty="0"/>
              <a:t>１１．まとめられた！！</a:t>
            </a:r>
          </a:p>
        </p:txBody>
      </p:sp>
      <p:sp>
        <p:nvSpPr>
          <p:cNvPr id="3" name="コンテンツ プレースホルダー 2">
            <a:extLst>
              <a:ext uri="{FF2B5EF4-FFF2-40B4-BE49-F238E27FC236}">
                <a16:creationId xmlns:a16="http://schemas.microsoft.com/office/drawing/2014/main" id="{8923EBBF-CB58-468A-993E-7678D180F6F2}"/>
              </a:ext>
            </a:extLst>
          </p:cNvPr>
          <p:cNvSpPr>
            <a:spLocks noGrp="1"/>
          </p:cNvSpPr>
          <p:nvPr>
            <p:ph idx="1"/>
          </p:nvPr>
        </p:nvSpPr>
        <p:spPr>
          <a:xfrm>
            <a:off x="6350924" y="1845734"/>
            <a:ext cx="4804756" cy="4023360"/>
          </a:xfrm>
        </p:spPr>
        <p:txBody>
          <a:bodyPr>
            <a:normAutofit/>
          </a:bodyPr>
          <a:lstStyle/>
          <a:p>
            <a:r>
              <a:rPr kumimoji="1" lang="ja-JP" altLang="en-US" sz="2800" dirty="0"/>
              <a:t>最後に「</a:t>
            </a:r>
            <a:r>
              <a:rPr kumimoji="1" lang="en-US" altLang="ja-JP" sz="2800" dirty="0"/>
              <a:t>git push origin master</a:t>
            </a:r>
            <a:r>
              <a:rPr kumimoji="1" lang="ja-JP" altLang="en-US" sz="2800" dirty="0"/>
              <a:t>」すると、リモートリポジトリにある</a:t>
            </a:r>
            <a:r>
              <a:rPr kumimoji="1" lang="en-US" altLang="ja-JP" sz="2800" dirty="0"/>
              <a:t>master</a:t>
            </a:r>
            <a:r>
              <a:rPr kumimoji="1" lang="ja-JP" altLang="en-US" sz="2800" dirty="0"/>
              <a:t>ブランチに</a:t>
            </a:r>
            <a:r>
              <a:rPr lang="ja-JP" altLang="en-US" sz="2800" dirty="0"/>
              <a:t>すべての変更が反映される。</a:t>
            </a:r>
            <a:endParaRPr lang="en-US" altLang="ja-JP" sz="2800" dirty="0"/>
          </a:p>
          <a:p>
            <a:endParaRPr lang="en-US" altLang="ja-JP" sz="2800" dirty="0"/>
          </a:p>
          <a:p>
            <a:r>
              <a:rPr lang="en-US" altLang="ja-JP" sz="2800" dirty="0"/>
              <a:t>GitHub</a:t>
            </a:r>
            <a:r>
              <a:rPr lang="ja-JP" altLang="en-US" sz="2800" dirty="0"/>
              <a:t>の左の画面で、丸で囲ったコミット名を見ると、しっかり適用されてるのが分かり、中身も修正されているのが確認できる。</a:t>
            </a:r>
            <a:endParaRPr kumimoji="1" lang="ja-JP" altLang="en-US" sz="2800" dirty="0"/>
          </a:p>
        </p:txBody>
      </p:sp>
      <p:pic>
        <p:nvPicPr>
          <p:cNvPr id="5" name="図 4" descr="gitTest/game at master · YoshikiAkashi/gitTest - Internet Explorer">
            <a:hlinkClick r:id="rId2"/>
            <a:extLst>
              <a:ext uri="{FF2B5EF4-FFF2-40B4-BE49-F238E27FC236}">
                <a16:creationId xmlns:a16="http://schemas.microsoft.com/office/drawing/2014/main" id="{3FB758B4-80C8-4203-8194-A60A9F97A9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790" y="1987794"/>
            <a:ext cx="5440210" cy="3881609"/>
          </a:xfrm>
          <a:prstGeom prst="rect">
            <a:avLst/>
          </a:prstGeom>
        </p:spPr>
      </p:pic>
      <p:sp>
        <p:nvSpPr>
          <p:cNvPr id="6" name="円: 塗りつぶしなし 5">
            <a:extLst>
              <a:ext uri="{FF2B5EF4-FFF2-40B4-BE49-F238E27FC236}">
                <a16:creationId xmlns:a16="http://schemas.microsoft.com/office/drawing/2014/main" id="{FFA87088-1D95-44C1-AC57-0ED4718C6DBD}"/>
              </a:ext>
            </a:extLst>
          </p:cNvPr>
          <p:cNvSpPr/>
          <p:nvPr/>
        </p:nvSpPr>
        <p:spPr>
          <a:xfrm>
            <a:off x="2468578" y="4189617"/>
            <a:ext cx="923010" cy="982720"/>
          </a:xfrm>
          <a:prstGeom prst="donut">
            <a:avLst>
              <a:gd name="adj" fmla="val 417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3317452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DD2C6D-3A53-4413-A603-AFAAB7CE1E96}"/>
              </a:ext>
            </a:extLst>
          </p:cNvPr>
          <p:cNvSpPr>
            <a:spLocks noGrp="1"/>
          </p:cNvSpPr>
          <p:nvPr>
            <p:ph type="title"/>
          </p:nvPr>
        </p:nvSpPr>
        <p:spPr/>
        <p:txBody>
          <a:bodyPr/>
          <a:lstStyle/>
          <a:p>
            <a:r>
              <a:rPr kumimoji="1" lang="ja-JP" altLang="en-US" dirty="0"/>
              <a:t>１２．そのあと</a:t>
            </a:r>
          </a:p>
        </p:txBody>
      </p:sp>
      <p:sp>
        <p:nvSpPr>
          <p:cNvPr id="3" name="コンテンツ プレースホルダー 2">
            <a:extLst>
              <a:ext uri="{FF2B5EF4-FFF2-40B4-BE49-F238E27FC236}">
                <a16:creationId xmlns:a16="http://schemas.microsoft.com/office/drawing/2014/main" id="{9D58C453-86E0-486B-8ABB-A2C086431728}"/>
              </a:ext>
            </a:extLst>
          </p:cNvPr>
          <p:cNvSpPr>
            <a:spLocks noGrp="1"/>
          </p:cNvSpPr>
          <p:nvPr>
            <p:ph idx="1"/>
          </p:nvPr>
        </p:nvSpPr>
        <p:spPr>
          <a:xfrm>
            <a:off x="1313412" y="1845734"/>
            <a:ext cx="9842268" cy="4023360"/>
          </a:xfrm>
        </p:spPr>
        <p:txBody>
          <a:bodyPr>
            <a:normAutofit/>
          </a:bodyPr>
          <a:lstStyle/>
          <a:p>
            <a:pPr marL="0" indent="0">
              <a:buNone/>
            </a:pPr>
            <a:r>
              <a:rPr lang="ja-JP" altLang="en-US" sz="2800" dirty="0"/>
              <a:t>リモートリポジトリの</a:t>
            </a:r>
            <a:r>
              <a:rPr lang="en-US" altLang="ja-JP" sz="2800" dirty="0"/>
              <a:t>master</a:t>
            </a:r>
            <a:r>
              <a:rPr lang="ja-JP" altLang="en-US" sz="2800" dirty="0"/>
              <a:t>ブランチが全エラーが改修され最新になったので、</a:t>
            </a:r>
            <a:r>
              <a:rPr lang="en-US" altLang="ja-JP" sz="2800" dirty="0"/>
              <a:t>A</a:t>
            </a:r>
            <a:r>
              <a:rPr lang="ja-JP" altLang="en-US" sz="2800" dirty="0"/>
              <a:t>さん、</a:t>
            </a:r>
            <a:r>
              <a:rPr lang="en-US" altLang="ja-JP" sz="2800" dirty="0"/>
              <a:t>B</a:t>
            </a:r>
            <a:r>
              <a:rPr lang="ja-JP" altLang="en-US" sz="2800" dirty="0"/>
              <a:t>さん、</a:t>
            </a:r>
            <a:r>
              <a:rPr lang="en-US" altLang="ja-JP" sz="2800" dirty="0"/>
              <a:t>C</a:t>
            </a:r>
            <a:r>
              <a:rPr lang="ja-JP" altLang="en-US" sz="2800" dirty="0" err="1"/>
              <a:t>さん</a:t>
            </a:r>
            <a:r>
              <a:rPr lang="ja-JP" altLang="en-US" sz="2800" dirty="0"/>
              <a:t>そのほかの人も「</a:t>
            </a:r>
            <a:r>
              <a:rPr lang="en-US" altLang="ja-JP" sz="2800" dirty="0"/>
              <a:t>git checkout master</a:t>
            </a:r>
            <a:r>
              <a:rPr lang="ja-JP" altLang="en-US" sz="2800" dirty="0"/>
              <a:t>」で</a:t>
            </a:r>
            <a:r>
              <a:rPr lang="ja-JP" altLang="en-US" sz="2800" dirty="0">
                <a:solidFill>
                  <a:srgbClr val="00B050"/>
                </a:solidFill>
              </a:rPr>
              <a:t>カレントブランチ</a:t>
            </a:r>
            <a:r>
              <a:rPr lang="ja-JP" altLang="en-US" sz="2800" dirty="0"/>
              <a:t>を</a:t>
            </a:r>
            <a:r>
              <a:rPr lang="en-US" altLang="ja-JP" sz="2800" dirty="0"/>
              <a:t>master</a:t>
            </a:r>
            <a:r>
              <a:rPr lang="ja-JP" altLang="en-US" sz="2800" dirty="0"/>
              <a:t>にし、「</a:t>
            </a:r>
            <a:r>
              <a:rPr lang="en-US" altLang="ja-JP" sz="2800" dirty="0"/>
              <a:t>git pull origin master</a:t>
            </a:r>
            <a:r>
              <a:rPr lang="ja-JP" altLang="en-US" sz="2800" dirty="0"/>
              <a:t>」するだけでローカルの</a:t>
            </a:r>
            <a:r>
              <a:rPr lang="en-US" altLang="ja-JP" sz="2800" dirty="0"/>
              <a:t>master</a:t>
            </a:r>
            <a:r>
              <a:rPr lang="ja-JP" altLang="en-US" sz="2800" dirty="0"/>
              <a:t>ブランチを最新にできる。</a:t>
            </a:r>
            <a:endParaRPr kumimoji="1" lang="ja-JP" altLang="en-US" sz="2800" dirty="0"/>
          </a:p>
        </p:txBody>
      </p:sp>
      <p:pic>
        <p:nvPicPr>
          <p:cNvPr id="4" name="図 3">
            <a:extLst>
              <a:ext uri="{FF2B5EF4-FFF2-40B4-BE49-F238E27FC236}">
                <a16:creationId xmlns:a16="http://schemas.microsoft.com/office/drawing/2014/main" id="{40683009-34E5-4D7B-B53D-88620601A6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95924" y="3051041"/>
            <a:ext cx="1525382" cy="1144037"/>
          </a:xfrm>
          <a:prstGeom prst="rect">
            <a:avLst/>
          </a:prstGeom>
        </p:spPr>
      </p:pic>
      <p:pic>
        <p:nvPicPr>
          <p:cNvPr id="5" name="図 4">
            <a:extLst>
              <a:ext uri="{FF2B5EF4-FFF2-40B4-BE49-F238E27FC236}">
                <a16:creationId xmlns:a16="http://schemas.microsoft.com/office/drawing/2014/main" id="{30181E47-585B-4321-8DD4-8F84AD4D29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0874" y="4166306"/>
            <a:ext cx="1525382" cy="1144037"/>
          </a:xfrm>
          <a:prstGeom prst="rect">
            <a:avLst/>
          </a:prstGeom>
        </p:spPr>
      </p:pic>
      <p:pic>
        <p:nvPicPr>
          <p:cNvPr id="6" name="図 5">
            <a:extLst>
              <a:ext uri="{FF2B5EF4-FFF2-40B4-BE49-F238E27FC236}">
                <a16:creationId xmlns:a16="http://schemas.microsoft.com/office/drawing/2014/main" id="{EDE1AD88-84E6-413B-BB26-F6862E6279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59455" y="5272808"/>
            <a:ext cx="1525382" cy="1144037"/>
          </a:xfrm>
          <a:prstGeom prst="rect">
            <a:avLst/>
          </a:prstGeom>
        </p:spPr>
      </p:pic>
      <p:sp>
        <p:nvSpPr>
          <p:cNvPr id="7" name="テキスト ボックス 6">
            <a:extLst>
              <a:ext uri="{FF2B5EF4-FFF2-40B4-BE49-F238E27FC236}">
                <a16:creationId xmlns:a16="http://schemas.microsoft.com/office/drawing/2014/main" id="{38BD0B7E-DD82-4E61-9F58-EB1C84F04ACE}"/>
              </a:ext>
            </a:extLst>
          </p:cNvPr>
          <p:cNvSpPr txBox="1"/>
          <p:nvPr/>
        </p:nvSpPr>
        <p:spPr>
          <a:xfrm>
            <a:off x="9622829" y="3252582"/>
            <a:ext cx="723789" cy="584775"/>
          </a:xfrm>
          <a:prstGeom prst="rect">
            <a:avLst/>
          </a:prstGeom>
          <a:noFill/>
        </p:spPr>
        <p:txBody>
          <a:bodyPr wrap="square" rtlCol="0">
            <a:spAutoFit/>
          </a:bodyPr>
          <a:lstStyle/>
          <a:p>
            <a:r>
              <a:rPr kumimoji="1" lang="en-US" altLang="ja-JP" sz="3200" b="1" dirty="0">
                <a:solidFill>
                  <a:srgbClr val="FF0000"/>
                </a:solidFill>
              </a:rPr>
              <a:t>A</a:t>
            </a:r>
            <a:endParaRPr kumimoji="1" lang="ja-JP" altLang="en-US" sz="3200" b="1" dirty="0">
              <a:solidFill>
                <a:srgbClr val="FF0000"/>
              </a:solidFill>
            </a:endParaRPr>
          </a:p>
        </p:txBody>
      </p:sp>
      <p:sp>
        <p:nvSpPr>
          <p:cNvPr id="8" name="テキスト ボックス 7">
            <a:extLst>
              <a:ext uri="{FF2B5EF4-FFF2-40B4-BE49-F238E27FC236}">
                <a16:creationId xmlns:a16="http://schemas.microsoft.com/office/drawing/2014/main" id="{85AA4E06-F18D-4119-A025-8CBD02929D49}"/>
              </a:ext>
            </a:extLst>
          </p:cNvPr>
          <p:cNvSpPr txBox="1"/>
          <p:nvPr/>
        </p:nvSpPr>
        <p:spPr>
          <a:xfrm>
            <a:off x="9683905" y="4448300"/>
            <a:ext cx="723789" cy="584775"/>
          </a:xfrm>
          <a:prstGeom prst="rect">
            <a:avLst/>
          </a:prstGeom>
          <a:noFill/>
        </p:spPr>
        <p:txBody>
          <a:bodyPr wrap="square" rtlCol="0">
            <a:spAutoFit/>
          </a:bodyPr>
          <a:lstStyle/>
          <a:p>
            <a:r>
              <a:rPr kumimoji="1" lang="en-US" altLang="ja-JP" sz="3200" b="1" dirty="0">
                <a:solidFill>
                  <a:srgbClr val="00B0F0"/>
                </a:solidFill>
              </a:rPr>
              <a:t>B</a:t>
            </a:r>
            <a:endParaRPr kumimoji="1" lang="ja-JP" altLang="en-US" sz="3200" b="1" dirty="0">
              <a:solidFill>
                <a:srgbClr val="00B0F0"/>
              </a:solidFill>
            </a:endParaRPr>
          </a:p>
        </p:txBody>
      </p:sp>
      <p:sp>
        <p:nvSpPr>
          <p:cNvPr id="9" name="テキスト ボックス 8">
            <a:extLst>
              <a:ext uri="{FF2B5EF4-FFF2-40B4-BE49-F238E27FC236}">
                <a16:creationId xmlns:a16="http://schemas.microsoft.com/office/drawing/2014/main" id="{9D5575EF-F107-4C7B-8ABA-6D61896A7F94}"/>
              </a:ext>
            </a:extLst>
          </p:cNvPr>
          <p:cNvSpPr txBox="1"/>
          <p:nvPr/>
        </p:nvSpPr>
        <p:spPr>
          <a:xfrm>
            <a:off x="9709696" y="5465564"/>
            <a:ext cx="723789" cy="584775"/>
          </a:xfrm>
          <a:prstGeom prst="rect">
            <a:avLst/>
          </a:prstGeom>
          <a:noFill/>
        </p:spPr>
        <p:txBody>
          <a:bodyPr wrap="square" rtlCol="0">
            <a:spAutoFit/>
          </a:bodyPr>
          <a:lstStyle/>
          <a:p>
            <a:r>
              <a:rPr kumimoji="1" lang="en-US" altLang="ja-JP" sz="3200" b="1" dirty="0">
                <a:solidFill>
                  <a:srgbClr val="FFFF00"/>
                </a:solidFill>
              </a:rPr>
              <a:t>C</a:t>
            </a:r>
            <a:endParaRPr kumimoji="1" lang="ja-JP" altLang="en-US" sz="3200" b="1" dirty="0">
              <a:solidFill>
                <a:srgbClr val="FFFF00"/>
              </a:solidFill>
            </a:endParaRPr>
          </a:p>
        </p:txBody>
      </p:sp>
      <p:pic>
        <p:nvPicPr>
          <p:cNvPr id="10" name="図 9">
            <a:extLst>
              <a:ext uri="{FF2B5EF4-FFF2-40B4-BE49-F238E27FC236}">
                <a16:creationId xmlns:a16="http://schemas.microsoft.com/office/drawing/2014/main" id="{5F3ACABD-09B4-4AAB-95CA-E21597AF9D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1438" y="3990056"/>
            <a:ext cx="2796649" cy="2237319"/>
          </a:xfrm>
          <a:prstGeom prst="rect">
            <a:avLst/>
          </a:prstGeom>
        </p:spPr>
      </p:pic>
      <p:sp>
        <p:nvSpPr>
          <p:cNvPr id="15" name="テキスト ボックス 14">
            <a:extLst>
              <a:ext uri="{FF2B5EF4-FFF2-40B4-BE49-F238E27FC236}">
                <a16:creationId xmlns:a16="http://schemas.microsoft.com/office/drawing/2014/main" id="{D4A0A38D-04D2-4426-84C8-B2877ADD248E}"/>
              </a:ext>
            </a:extLst>
          </p:cNvPr>
          <p:cNvSpPr txBox="1"/>
          <p:nvPr/>
        </p:nvSpPr>
        <p:spPr>
          <a:xfrm>
            <a:off x="2139438" y="3541265"/>
            <a:ext cx="3477704" cy="523220"/>
          </a:xfrm>
          <a:prstGeom prst="rect">
            <a:avLst/>
          </a:prstGeom>
          <a:noFill/>
        </p:spPr>
        <p:txBody>
          <a:bodyPr wrap="square" rtlCol="0">
            <a:spAutoFit/>
          </a:bodyPr>
          <a:lstStyle/>
          <a:p>
            <a:r>
              <a:rPr kumimoji="1" lang="en-US" altLang="ja-JP" sz="2800" dirty="0"/>
              <a:t>master(</a:t>
            </a:r>
            <a:r>
              <a:rPr kumimoji="1" lang="ja-JP" altLang="en-US" sz="2800" dirty="0"/>
              <a:t>ブランチ名</a:t>
            </a:r>
            <a:r>
              <a:rPr kumimoji="1" lang="en-US" altLang="ja-JP" sz="2800" dirty="0"/>
              <a:t>)</a:t>
            </a:r>
          </a:p>
        </p:txBody>
      </p:sp>
      <p:pic>
        <p:nvPicPr>
          <p:cNvPr id="16" name="コンテンツ プレースホルダー 4">
            <a:extLst>
              <a:ext uri="{FF2B5EF4-FFF2-40B4-BE49-F238E27FC236}">
                <a16:creationId xmlns:a16="http://schemas.microsoft.com/office/drawing/2014/main" id="{501F4FFD-A0C1-488F-8B23-47AC6D5310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990" y="4187133"/>
            <a:ext cx="1187826" cy="1187826"/>
          </a:xfrm>
          <a:prstGeom prst="rect">
            <a:avLst/>
          </a:prstGeom>
        </p:spPr>
      </p:pic>
      <p:sp>
        <p:nvSpPr>
          <p:cNvPr id="17" name="テキスト ボックス 16">
            <a:extLst>
              <a:ext uri="{FF2B5EF4-FFF2-40B4-BE49-F238E27FC236}">
                <a16:creationId xmlns:a16="http://schemas.microsoft.com/office/drawing/2014/main" id="{CCDDEF32-BFE5-4781-B399-62FE1653D1A1}"/>
              </a:ext>
            </a:extLst>
          </p:cNvPr>
          <p:cNvSpPr txBox="1"/>
          <p:nvPr/>
        </p:nvSpPr>
        <p:spPr>
          <a:xfrm>
            <a:off x="60300" y="3638583"/>
            <a:ext cx="1674131" cy="954107"/>
          </a:xfrm>
          <a:prstGeom prst="rect">
            <a:avLst/>
          </a:prstGeom>
          <a:noFill/>
        </p:spPr>
        <p:txBody>
          <a:bodyPr wrap="square" rtlCol="0">
            <a:spAutoFit/>
          </a:bodyPr>
          <a:lstStyle/>
          <a:p>
            <a:pPr algn="ctr"/>
            <a:r>
              <a:rPr kumimoji="1" lang="ja-JP" altLang="en-US" sz="2800" dirty="0"/>
              <a:t>リモート　リポジトリ</a:t>
            </a:r>
          </a:p>
        </p:txBody>
      </p:sp>
      <p:sp>
        <p:nvSpPr>
          <p:cNvPr id="18" name="左中かっこ 17">
            <a:extLst>
              <a:ext uri="{FF2B5EF4-FFF2-40B4-BE49-F238E27FC236}">
                <a16:creationId xmlns:a16="http://schemas.microsoft.com/office/drawing/2014/main" id="{3FC224FD-CF19-4ADC-8920-C02C18974BBC}"/>
              </a:ext>
            </a:extLst>
          </p:cNvPr>
          <p:cNvSpPr/>
          <p:nvPr/>
        </p:nvSpPr>
        <p:spPr>
          <a:xfrm>
            <a:off x="1390402" y="3544969"/>
            <a:ext cx="598509" cy="263600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cxnSp>
        <p:nvCxnSpPr>
          <p:cNvPr id="21" name="直線矢印コネクタ 20">
            <a:extLst>
              <a:ext uri="{FF2B5EF4-FFF2-40B4-BE49-F238E27FC236}">
                <a16:creationId xmlns:a16="http://schemas.microsoft.com/office/drawing/2014/main" id="{F88E1262-D8C5-4187-A34A-5452286E98B9}"/>
              </a:ext>
            </a:extLst>
          </p:cNvPr>
          <p:cNvCxnSpPr>
            <a:cxnSpLocks/>
          </p:cNvCxnSpPr>
          <p:nvPr/>
        </p:nvCxnSpPr>
        <p:spPr>
          <a:xfrm flipV="1">
            <a:off x="5469775" y="3941544"/>
            <a:ext cx="2274164" cy="8395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33FAFDE1-8804-4B9E-926F-15B9A7D3624E}"/>
              </a:ext>
            </a:extLst>
          </p:cNvPr>
          <p:cNvCxnSpPr/>
          <p:nvPr/>
        </p:nvCxnSpPr>
        <p:spPr>
          <a:xfrm flipV="1">
            <a:off x="5586153" y="4592690"/>
            <a:ext cx="2157786" cy="188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13F22141-D44C-4E9A-B4F8-3C8CBB5F2253}"/>
              </a:ext>
            </a:extLst>
          </p:cNvPr>
          <p:cNvCxnSpPr/>
          <p:nvPr/>
        </p:nvCxnSpPr>
        <p:spPr>
          <a:xfrm>
            <a:off x="5617142" y="4842810"/>
            <a:ext cx="2126797" cy="645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6C7647A8-C00D-4442-94CE-82652C570AB6}"/>
              </a:ext>
            </a:extLst>
          </p:cNvPr>
          <p:cNvSpPr txBox="1"/>
          <p:nvPr/>
        </p:nvSpPr>
        <p:spPr>
          <a:xfrm>
            <a:off x="7743939" y="3495908"/>
            <a:ext cx="1773004" cy="646331"/>
          </a:xfrm>
          <a:prstGeom prst="rect">
            <a:avLst/>
          </a:prstGeom>
          <a:noFill/>
        </p:spPr>
        <p:txBody>
          <a:bodyPr wrap="square" rtlCol="0">
            <a:spAutoFit/>
          </a:bodyPr>
          <a:lstStyle/>
          <a:p>
            <a:r>
              <a:rPr kumimoji="1" lang="ja-JP" altLang="en-US" dirty="0"/>
              <a:t>ローカルの</a:t>
            </a:r>
            <a:r>
              <a:rPr kumimoji="1" lang="en-US" altLang="ja-JP" dirty="0"/>
              <a:t>master</a:t>
            </a:r>
            <a:r>
              <a:rPr kumimoji="1" lang="ja-JP" altLang="en-US" dirty="0"/>
              <a:t>ブランチ</a:t>
            </a:r>
          </a:p>
        </p:txBody>
      </p:sp>
      <p:sp>
        <p:nvSpPr>
          <p:cNvPr id="29" name="テキスト ボックス 28">
            <a:extLst>
              <a:ext uri="{FF2B5EF4-FFF2-40B4-BE49-F238E27FC236}">
                <a16:creationId xmlns:a16="http://schemas.microsoft.com/office/drawing/2014/main" id="{0D8406C9-8492-416C-9A69-83E947982273}"/>
              </a:ext>
            </a:extLst>
          </p:cNvPr>
          <p:cNvSpPr txBox="1"/>
          <p:nvPr/>
        </p:nvSpPr>
        <p:spPr>
          <a:xfrm>
            <a:off x="7764948" y="4314428"/>
            <a:ext cx="1773004" cy="646331"/>
          </a:xfrm>
          <a:prstGeom prst="rect">
            <a:avLst/>
          </a:prstGeom>
          <a:noFill/>
        </p:spPr>
        <p:txBody>
          <a:bodyPr wrap="square" rtlCol="0">
            <a:spAutoFit/>
          </a:bodyPr>
          <a:lstStyle/>
          <a:p>
            <a:r>
              <a:rPr kumimoji="1" lang="ja-JP" altLang="en-US" dirty="0"/>
              <a:t>ローカルの</a:t>
            </a:r>
            <a:r>
              <a:rPr kumimoji="1" lang="en-US" altLang="ja-JP" dirty="0"/>
              <a:t>master</a:t>
            </a:r>
            <a:r>
              <a:rPr kumimoji="1" lang="ja-JP" altLang="en-US" dirty="0"/>
              <a:t>ブランチ</a:t>
            </a:r>
          </a:p>
        </p:txBody>
      </p:sp>
      <p:sp>
        <p:nvSpPr>
          <p:cNvPr id="30" name="テキスト ボックス 29">
            <a:extLst>
              <a:ext uri="{FF2B5EF4-FFF2-40B4-BE49-F238E27FC236}">
                <a16:creationId xmlns:a16="http://schemas.microsoft.com/office/drawing/2014/main" id="{2948275E-0E5E-422E-8C69-1B2B2F9CD313}"/>
              </a:ext>
            </a:extLst>
          </p:cNvPr>
          <p:cNvSpPr txBox="1"/>
          <p:nvPr/>
        </p:nvSpPr>
        <p:spPr>
          <a:xfrm>
            <a:off x="7743939" y="5326004"/>
            <a:ext cx="1773004" cy="646331"/>
          </a:xfrm>
          <a:prstGeom prst="rect">
            <a:avLst/>
          </a:prstGeom>
          <a:noFill/>
        </p:spPr>
        <p:txBody>
          <a:bodyPr wrap="square" rtlCol="0">
            <a:spAutoFit/>
          </a:bodyPr>
          <a:lstStyle/>
          <a:p>
            <a:r>
              <a:rPr kumimoji="1" lang="ja-JP" altLang="en-US" dirty="0"/>
              <a:t>ローカルの</a:t>
            </a:r>
            <a:r>
              <a:rPr kumimoji="1" lang="en-US" altLang="ja-JP" dirty="0"/>
              <a:t>master</a:t>
            </a:r>
            <a:r>
              <a:rPr kumimoji="1" lang="ja-JP" altLang="en-US" dirty="0"/>
              <a:t>ブランチ</a:t>
            </a:r>
          </a:p>
        </p:txBody>
      </p:sp>
    </p:spTree>
    <p:extLst>
      <p:ext uri="{BB962C8B-B14F-4D97-AF65-F5344CB8AC3E}">
        <p14:creationId xmlns:p14="http://schemas.microsoft.com/office/powerpoint/2010/main" val="2786506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A2DFFD-50A0-4C58-BBD4-E4BB5837052F}"/>
              </a:ext>
            </a:extLst>
          </p:cNvPr>
          <p:cNvSpPr>
            <a:spLocks noGrp="1"/>
          </p:cNvSpPr>
          <p:nvPr>
            <p:ph type="title"/>
          </p:nvPr>
        </p:nvSpPr>
        <p:spPr/>
        <p:txBody>
          <a:bodyPr/>
          <a:lstStyle/>
          <a:p>
            <a:r>
              <a:rPr kumimoji="1" lang="ja-JP" altLang="en-US" dirty="0"/>
              <a:t>１３</a:t>
            </a:r>
            <a:r>
              <a:rPr kumimoji="1" lang="en-US" altLang="ja-JP" dirty="0"/>
              <a:t>.</a:t>
            </a:r>
            <a:r>
              <a:rPr kumimoji="1" lang="ja-JP" altLang="en-US" dirty="0"/>
              <a:t>本来なら</a:t>
            </a:r>
            <a:r>
              <a:rPr kumimoji="1" lang="en-US" altLang="ja-JP" dirty="0"/>
              <a:t>…</a:t>
            </a:r>
            <a:r>
              <a:rPr kumimoji="1" lang="ja-JP" altLang="en-US" dirty="0"/>
              <a:t>（これはまだ見なくて</a:t>
            </a:r>
            <a:r>
              <a:rPr lang="en-US" altLang="ja-JP" dirty="0"/>
              <a:t>OK</a:t>
            </a:r>
            <a:r>
              <a:rPr lang="ja-JP" altLang="en-US" dirty="0"/>
              <a:t>）</a:t>
            </a:r>
            <a:endParaRPr kumimoji="1" lang="ja-JP" altLang="en-US" dirty="0"/>
          </a:p>
        </p:txBody>
      </p:sp>
      <p:sp>
        <p:nvSpPr>
          <p:cNvPr id="3" name="コンテンツ プレースホルダー 2">
            <a:extLst>
              <a:ext uri="{FF2B5EF4-FFF2-40B4-BE49-F238E27FC236}">
                <a16:creationId xmlns:a16="http://schemas.microsoft.com/office/drawing/2014/main" id="{C98DADF8-F862-40BE-A7C8-709EF5F8D472}"/>
              </a:ext>
            </a:extLst>
          </p:cNvPr>
          <p:cNvSpPr>
            <a:spLocks noGrp="1"/>
          </p:cNvSpPr>
          <p:nvPr>
            <p:ph idx="1"/>
          </p:nvPr>
        </p:nvSpPr>
        <p:spPr/>
        <p:txBody>
          <a:bodyPr>
            <a:normAutofit/>
          </a:bodyPr>
          <a:lstStyle/>
          <a:p>
            <a:r>
              <a:rPr kumimoji="1" lang="ja-JP" altLang="en-US" sz="2800" dirty="0"/>
              <a:t>１５枚目のスライドで触れた通り、今回は一人でこれまでの操作を行った場合について行ったが、本来は別の人と分担して行うことである。本来ならブランチは下のようになっているはずだ。</a:t>
            </a:r>
          </a:p>
        </p:txBody>
      </p:sp>
      <p:pic>
        <p:nvPicPr>
          <p:cNvPr id="5" name="図 4" descr="コマンド プロンプト">
            <a:extLst>
              <a:ext uri="{FF2B5EF4-FFF2-40B4-BE49-F238E27FC236}">
                <a16:creationId xmlns:a16="http://schemas.microsoft.com/office/drawing/2014/main" id="{945E01BC-D920-4957-8703-5BCCC71048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9831" y="3696306"/>
            <a:ext cx="5939519" cy="1889847"/>
          </a:xfrm>
          <a:prstGeom prst="rect">
            <a:avLst/>
          </a:prstGeom>
        </p:spPr>
      </p:pic>
    </p:spTree>
    <p:extLst>
      <p:ext uri="{BB962C8B-B14F-4D97-AF65-F5344CB8AC3E}">
        <p14:creationId xmlns:p14="http://schemas.microsoft.com/office/powerpoint/2010/main" val="2899159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FEBA8E-0F8E-432E-8463-98EFBA414FF2}"/>
              </a:ext>
            </a:extLst>
          </p:cNvPr>
          <p:cNvSpPr>
            <a:spLocks noGrp="1"/>
          </p:cNvSpPr>
          <p:nvPr>
            <p:ph type="title"/>
          </p:nvPr>
        </p:nvSpPr>
        <p:spPr/>
        <p:txBody>
          <a:bodyPr/>
          <a:lstStyle/>
          <a:p>
            <a:r>
              <a:rPr kumimoji="1" lang="ja-JP" altLang="en-US" dirty="0"/>
              <a:t>１３．（まだ見なくて</a:t>
            </a:r>
            <a:r>
              <a:rPr kumimoji="1" lang="en-US" altLang="ja-JP" dirty="0"/>
              <a:t>OK</a:t>
            </a:r>
            <a:r>
              <a:rPr kumimoji="1" lang="ja-JP" altLang="en-US" dirty="0"/>
              <a:t>）</a:t>
            </a:r>
          </a:p>
        </p:txBody>
      </p:sp>
      <p:pic>
        <p:nvPicPr>
          <p:cNvPr id="5" name="コンテンツ プレースホルダー 4" descr="選択コマンド プロンプト">
            <a:extLst>
              <a:ext uri="{FF2B5EF4-FFF2-40B4-BE49-F238E27FC236}">
                <a16:creationId xmlns:a16="http://schemas.microsoft.com/office/drawing/2014/main" id="{179BBAE7-8053-4DE1-82CD-1D8A898D0C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7280" y="2468651"/>
            <a:ext cx="4115157" cy="2651990"/>
          </a:xfrm>
        </p:spPr>
      </p:pic>
      <p:sp>
        <p:nvSpPr>
          <p:cNvPr id="6" name="テキスト ボックス 5">
            <a:extLst>
              <a:ext uri="{FF2B5EF4-FFF2-40B4-BE49-F238E27FC236}">
                <a16:creationId xmlns:a16="http://schemas.microsoft.com/office/drawing/2014/main" id="{290C984D-5237-473E-9A29-47E4F7F06C6C}"/>
              </a:ext>
            </a:extLst>
          </p:cNvPr>
          <p:cNvSpPr txBox="1"/>
          <p:nvPr/>
        </p:nvSpPr>
        <p:spPr>
          <a:xfrm>
            <a:off x="5636030" y="1862051"/>
            <a:ext cx="6555970" cy="4401205"/>
          </a:xfrm>
          <a:prstGeom prst="rect">
            <a:avLst/>
          </a:prstGeom>
          <a:noFill/>
        </p:spPr>
        <p:txBody>
          <a:bodyPr wrap="square" rtlCol="0">
            <a:spAutoFit/>
          </a:bodyPr>
          <a:lstStyle/>
          <a:p>
            <a:r>
              <a:rPr kumimoji="1" lang="ja-JP" altLang="en-US" sz="2800" dirty="0"/>
              <a:t>コマンド「</a:t>
            </a:r>
            <a:r>
              <a:rPr kumimoji="1" lang="en-US" altLang="ja-JP" sz="2800" dirty="0"/>
              <a:t>git fetch –all</a:t>
            </a:r>
            <a:r>
              <a:rPr kumimoji="1" lang="ja-JP" altLang="en-US" sz="2800" dirty="0"/>
              <a:t>」をすることで</a:t>
            </a:r>
            <a:r>
              <a:rPr kumimoji="1" lang="ja-JP" altLang="en-US" sz="2800" dirty="0">
                <a:solidFill>
                  <a:srgbClr val="FF0000"/>
                </a:solidFill>
              </a:rPr>
              <a:t>赤いリモート追跡ブランチ</a:t>
            </a:r>
            <a:r>
              <a:rPr kumimoji="1" lang="ja-JP" altLang="en-US" sz="2800" dirty="0"/>
              <a:t>が追加される。（確認は「</a:t>
            </a:r>
            <a:r>
              <a:rPr kumimoji="1" lang="en-US" altLang="ja-JP" sz="2800" dirty="0"/>
              <a:t>git branch –a</a:t>
            </a:r>
            <a:r>
              <a:rPr kumimoji="1" lang="ja-JP" altLang="en-US" sz="2800" dirty="0"/>
              <a:t>」）</a:t>
            </a:r>
            <a:endParaRPr kumimoji="1" lang="en-US" altLang="ja-JP" sz="2800" dirty="0"/>
          </a:p>
          <a:p>
            <a:r>
              <a:rPr kumimoji="1" lang="ja-JP" altLang="en-US" sz="2800" dirty="0"/>
              <a:t>あとは同様に「</a:t>
            </a:r>
            <a:r>
              <a:rPr kumimoji="1" lang="en-US" altLang="ja-JP" sz="2800" dirty="0"/>
              <a:t>git merge origin/</a:t>
            </a:r>
            <a:r>
              <a:rPr kumimoji="1" lang="en-US" altLang="ja-JP" sz="2800" dirty="0" err="1"/>
              <a:t>branchA</a:t>
            </a:r>
            <a:r>
              <a:rPr kumimoji="1" lang="ja-JP" altLang="en-US" sz="2800" dirty="0"/>
              <a:t>」などで統合していくだけである。</a:t>
            </a:r>
            <a:endParaRPr kumimoji="1" lang="en-US" altLang="ja-JP" sz="2800" dirty="0"/>
          </a:p>
          <a:p>
            <a:endParaRPr kumimoji="1" lang="en-US" altLang="ja-JP" sz="2800" dirty="0"/>
          </a:p>
          <a:p>
            <a:r>
              <a:rPr kumimoji="1" lang="ja-JP" altLang="en-US" sz="2800" dirty="0"/>
              <a:t>なお、</a:t>
            </a:r>
            <a:r>
              <a:rPr kumimoji="1" lang="ja-JP" altLang="en-US" sz="2800" dirty="0">
                <a:solidFill>
                  <a:srgbClr val="FF0000"/>
                </a:solidFill>
              </a:rPr>
              <a:t>リモート追跡ブランチ</a:t>
            </a:r>
            <a:r>
              <a:rPr kumimoji="1" lang="ja-JP" altLang="en-US" sz="2800" dirty="0"/>
              <a:t>とは、リモートリポジトリにあるブランチ（リモートブランチと言う）を、</a:t>
            </a:r>
            <a:r>
              <a:rPr kumimoji="1" lang="en-US" altLang="ja-JP" sz="2800" dirty="0"/>
              <a:t>fetch</a:t>
            </a:r>
            <a:r>
              <a:rPr kumimoji="1" lang="ja-JP" altLang="en-US" sz="2800" dirty="0"/>
              <a:t>コマンドによりコピーしてきたブランチのことである</a:t>
            </a:r>
            <a:endParaRPr kumimoji="1" lang="en-US" altLang="ja-JP" sz="2800" dirty="0"/>
          </a:p>
        </p:txBody>
      </p:sp>
    </p:spTree>
    <p:extLst>
      <p:ext uri="{BB962C8B-B14F-4D97-AF65-F5344CB8AC3E}">
        <p14:creationId xmlns:p14="http://schemas.microsoft.com/office/powerpoint/2010/main" val="512851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288CBBA4-7350-4B3C-94E5-8C25DB226244}"/>
              </a:ext>
            </a:extLst>
          </p:cNvPr>
          <p:cNvSpPr/>
          <p:nvPr/>
        </p:nvSpPr>
        <p:spPr>
          <a:xfrm>
            <a:off x="620683" y="4152208"/>
            <a:ext cx="10983884" cy="1936865"/>
          </a:xfrm>
          <a:prstGeom prst="rect">
            <a:avLst/>
          </a:prstGeom>
          <a:solidFill>
            <a:schemeClr val="tx2">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068716E8-E797-493A-8ECD-8C422D770069}"/>
              </a:ext>
            </a:extLst>
          </p:cNvPr>
          <p:cNvSpPr/>
          <p:nvPr/>
        </p:nvSpPr>
        <p:spPr>
          <a:xfrm>
            <a:off x="6298943" y="4573305"/>
            <a:ext cx="5220393" cy="1412043"/>
          </a:xfrm>
          <a:prstGeom prst="rect">
            <a:avLst/>
          </a:prstGeom>
          <a:solidFill>
            <a:srgbClr val="FF0000"/>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2683F005-7493-468C-8841-C4362125A278}"/>
              </a:ext>
            </a:extLst>
          </p:cNvPr>
          <p:cNvSpPr>
            <a:spLocks noGrp="1"/>
          </p:cNvSpPr>
          <p:nvPr>
            <p:ph type="title"/>
          </p:nvPr>
        </p:nvSpPr>
        <p:spPr/>
        <p:txBody>
          <a:bodyPr/>
          <a:lstStyle/>
          <a:p>
            <a:r>
              <a:rPr kumimoji="1" lang="ja-JP" altLang="en-US" dirty="0"/>
              <a:t>１４．ブランチまとめ</a:t>
            </a:r>
          </a:p>
        </p:txBody>
      </p:sp>
      <p:sp>
        <p:nvSpPr>
          <p:cNvPr id="4" name="正方形/長方形 3">
            <a:extLst>
              <a:ext uri="{FF2B5EF4-FFF2-40B4-BE49-F238E27FC236}">
                <a16:creationId xmlns:a16="http://schemas.microsoft.com/office/drawing/2014/main" id="{45D81ABE-F90C-43ED-9DA4-9C077BF394AC}"/>
              </a:ext>
            </a:extLst>
          </p:cNvPr>
          <p:cNvSpPr/>
          <p:nvPr/>
        </p:nvSpPr>
        <p:spPr>
          <a:xfrm>
            <a:off x="1615439" y="1849659"/>
            <a:ext cx="8961121" cy="1554589"/>
          </a:xfrm>
          <a:prstGeom prst="rect">
            <a:avLst/>
          </a:prstGeom>
          <a:solidFill>
            <a:schemeClr val="bg2">
              <a:lumMod val="9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6F6C14-37DB-41E9-8236-B3D8A3BD5C8E}"/>
              </a:ext>
            </a:extLst>
          </p:cNvPr>
          <p:cNvSpPr/>
          <p:nvPr/>
        </p:nvSpPr>
        <p:spPr>
          <a:xfrm>
            <a:off x="620683" y="2127309"/>
            <a:ext cx="1607126" cy="941070"/>
          </a:xfrm>
          <a:prstGeom prst="rect">
            <a:avLst/>
          </a:prstGeom>
          <a:solidFill>
            <a:schemeClr val="bg2">
              <a:lumMod val="9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2800" dirty="0"/>
              <a:t>リモート　リポジトリ</a:t>
            </a:r>
          </a:p>
        </p:txBody>
      </p:sp>
      <p:sp>
        <p:nvSpPr>
          <p:cNvPr id="13" name="正方形/長方形 12">
            <a:extLst>
              <a:ext uri="{FF2B5EF4-FFF2-40B4-BE49-F238E27FC236}">
                <a16:creationId xmlns:a16="http://schemas.microsoft.com/office/drawing/2014/main" id="{5374A246-4057-46C0-85B0-640E66B52602}"/>
              </a:ext>
            </a:extLst>
          </p:cNvPr>
          <p:cNvSpPr/>
          <p:nvPr/>
        </p:nvSpPr>
        <p:spPr>
          <a:xfrm>
            <a:off x="6516486" y="4900435"/>
            <a:ext cx="1209500" cy="938620"/>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2800" dirty="0"/>
              <a:t>master</a:t>
            </a:r>
            <a:endParaRPr kumimoji="1" lang="ja-JP" altLang="en-US" sz="2800" dirty="0"/>
          </a:p>
        </p:txBody>
      </p:sp>
      <p:sp>
        <p:nvSpPr>
          <p:cNvPr id="14" name="正方形/長方形 13">
            <a:extLst>
              <a:ext uri="{FF2B5EF4-FFF2-40B4-BE49-F238E27FC236}">
                <a16:creationId xmlns:a16="http://schemas.microsoft.com/office/drawing/2014/main" id="{66FEB35A-71B5-4624-BE45-59A78A08E626}"/>
              </a:ext>
            </a:extLst>
          </p:cNvPr>
          <p:cNvSpPr/>
          <p:nvPr/>
        </p:nvSpPr>
        <p:spPr>
          <a:xfrm>
            <a:off x="7899168" y="4919639"/>
            <a:ext cx="1555864" cy="900211"/>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2800" dirty="0" err="1"/>
              <a:t>branchA</a:t>
            </a:r>
            <a:endParaRPr kumimoji="1" lang="en-US" altLang="ja-JP" sz="2800" dirty="0"/>
          </a:p>
        </p:txBody>
      </p:sp>
      <p:sp>
        <p:nvSpPr>
          <p:cNvPr id="15" name="正方形/長方形 14">
            <a:extLst>
              <a:ext uri="{FF2B5EF4-FFF2-40B4-BE49-F238E27FC236}">
                <a16:creationId xmlns:a16="http://schemas.microsoft.com/office/drawing/2014/main" id="{7404EFA1-3CAA-4EEF-A057-84C3AE785F70}"/>
              </a:ext>
            </a:extLst>
          </p:cNvPr>
          <p:cNvSpPr/>
          <p:nvPr/>
        </p:nvSpPr>
        <p:spPr>
          <a:xfrm>
            <a:off x="9635839" y="4900435"/>
            <a:ext cx="1555864" cy="900211"/>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2800" dirty="0" err="1"/>
              <a:t>branchB</a:t>
            </a:r>
            <a:endParaRPr kumimoji="1" lang="en-US" altLang="ja-JP" sz="2800" dirty="0"/>
          </a:p>
        </p:txBody>
      </p:sp>
      <p:sp>
        <p:nvSpPr>
          <p:cNvPr id="17" name="正方形/長方形 16">
            <a:extLst>
              <a:ext uri="{FF2B5EF4-FFF2-40B4-BE49-F238E27FC236}">
                <a16:creationId xmlns:a16="http://schemas.microsoft.com/office/drawing/2014/main" id="{8282A004-1AC8-4D28-AB2B-FA36AA352F35}"/>
              </a:ext>
            </a:extLst>
          </p:cNvPr>
          <p:cNvSpPr/>
          <p:nvPr/>
        </p:nvSpPr>
        <p:spPr>
          <a:xfrm>
            <a:off x="6618311" y="4407052"/>
            <a:ext cx="4537365" cy="345817"/>
          </a:xfrm>
          <a:prstGeom prst="rect">
            <a:avLst/>
          </a:prstGeom>
          <a:solidFill>
            <a:srgbClr val="FF0000"/>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2800" dirty="0"/>
              <a:t>リモート追跡ブランチ</a:t>
            </a:r>
          </a:p>
        </p:txBody>
      </p:sp>
      <p:sp>
        <p:nvSpPr>
          <p:cNvPr id="18" name="正方形/長方形 17">
            <a:extLst>
              <a:ext uri="{FF2B5EF4-FFF2-40B4-BE49-F238E27FC236}">
                <a16:creationId xmlns:a16="http://schemas.microsoft.com/office/drawing/2014/main" id="{2D7AB191-1A95-4B19-A0DA-E4E3A120A5DE}"/>
              </a:ext>
            </a:extLst>
          </p:cNvPr>
          <p:cNvSpPr/>
          <p:nvPr/>
        </p:nvSpPr>
        <p:spPr>
          <a:xfrm>
            <a:off x="108063" y="3539140"/>
            <a:ext cx="1607126" cy="941070"/>
          </a:xfrm>
          <a:prstGeom prst="rect">
            <a:avLst/>
          </a:prstGeom>
          <a:solidFill>
            <a:schemeClr val="tx2">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2800" dirty="0"/>
              <a:t>ローカル　リポジトリ</a:t>
            </a:r>
          </a:p>
        </p:txBody>
      </p:sp>
      <p:sp>
        <p:nvSpPr>
          <p:cNvPr id="19" name="正方形/長方形 18">
            <a:extLst>
              <a:ext uri="{FF2B5EF4-FFF2-40B4-BE49-F238E27FC236}">
                <a16:creationId xmlns:a16="http://schemas.microsoft.com/office/drawing/2014/main" id="{013F8A87-6B4A-49C9-98D7-E47DA5C92028}"/>
              </a:ext>
            </a:extLst>
          </p:cNvPr>
          <p:cNvSpPr/>
          <p:nvPr/>
        </p:nvSpPr>
        <p:spPr>
          <a:xfrm>
            <a:off x="891152" y="4592509"/>
            <a:ext cx="5220393" cy="1353117"/>
          </a:xfrm>
          <a:prstGeom prst="rect">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59E5D51A-C2BC-47C7-A2D4-FB54E7D3F9AF}"/>
              </a:ext>
            </a:extLst>
          </p:cNvPr>
          <p:cNvSpPr/>
          <p:nvPr/>
        </p:nvSpPr>
        <p:spPr>
          <a:xfrm>
            <a:off x="1247594" y="4873339"/>
            <a:ext cx="1209500" cy="938620"/>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2800" dirty="0"/>
              <a:t>master</a:t>
            </a:r>
            <a:endParaRPr kumimoji="1" lang="ja-JP" altLang="en-US" sz="2800" dirty="0"/>
          </a:p>
        </p:txBody>
      </p:sp>
      <p:sp>
        <p:nvSpPr>
          <p:cNvPr id="21" name="正方形/長方形 20">
            <a:extLst>
              <a:ext uri="{FF2B5EF4-FFF2-40B4-BE49-F238E27FC236}">
                <a16:creationId xmlns:a16="http://schemas.microsoft.com/office/drawing/2014/main" id="{71B9AD65-AEC0-401F-BDB7-EA76EDEF492C}"/>
              </a:ext>
            </a:extLst>
          </p:cNvPr>
          <p:cNvSpPr/>
          <p:nvPr/>
        </p:nvSpPr>
        <p:spPr>
          <a:xfrm>
            <a:off x="2630276" y="4892543"/>
            <a:ext cx="1555864" cy="900211"/>
          </a:xfrm>
          <a:prstGeom prst="rect">
            <a:avLst/>
          </a:prstGeom>
          <a:solidFill>
            <a:srgbClr val="FFC000"/>
          </a:solid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2800" dirty="0" err="1"/>
              <a:t>branchA</a:t>
            </a:r>
            <a:endParaRPr kumimoji="1" lang="en-US" altLang="ja-JP" sz="2800" dirty="0"/>
          </a:p>
        </p:txBody>
      </p:sp>
      <p:sp>
        <p:nvSpPr>
          <p:cNvPr id="22" name="正方形/長方形 21">
            <a:extLst>
              <a:ext uri="{FF2B5EF4-FFF2-40B4-BE49-F238E27FC236}">
                <a16:creationId xmlns:a16="http://schemas.microsoft.com/office/drawing/2014/main" id="{DF9E7971-386D-48A8-A207-4AC5EDFF6FAA}"/>
              </a:ext>
            </a:extLst>
          </p:cNvPr>
          <p:cNvSpPr/>
          <p:nvPr/>
        </p:nvSpPr>
        <p:spPr>
          <a:xfrm>
            <a:off x="4366947" y="4873339"/>
            <a:ext cx="1555864" cy="900211"/>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2800" dirty="0" err="1"/>
              <a:t>branchB</a:t>
            </a:r>
            <a:endParaRPr kumimoji="1" lang="en-US" altLang="ja-JP" sz="2800" dirty="0"/>
          </a:p>
        </p:txBody>
      </p:sp>
      <p:sp>
        <p:nvSpPr>
          <p:cNvPr id="23" name="正方形/長方形 22">
            <a:extLst>
              <a:ext uri="{FF2B5EF4-FFF2-40B4-BE49-F238E27FC236}">
                <a16:creationId xmlns:a16="http://schemas.microsoft.com/office/drawing/2014/main" id="{3674060E-6C88-4136-A404-9D0DD199852F}"/>
              </a:ext>
            </a:extLst>
          </p:cNvPr>
          <p:cNvSpPr/>
          <p:nvPr/>
        </p:nvSpPr>
        <p:spPr>
          <a:xfrm>
            <a:off x="1925312" y="4428657"/>
            <a:ext cx="3658975" cy="345817"/>
          </a:xfrm>
          <a:prstGeom prst="rect">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2800" dirty="0"/>
              <a:t>ローカルブランチ</a:t>
            </a:r>
          </a:p>
        </p:txBody>
      </p:sp>
      <p:sp>
        <p:nvSpPr>
          <p:cNvPr id="26" name="正方形/長方形 25">
            <a:extLst>
              <a:ext uri="{FF2B5EF4-FFF2-40B4-BE49-F238E27FC236}">
                <a16:creationId xmlns:a16="http://schemas.microsoft.com/office/drawing/2014/main" id="{F47344F5-C046-4DBC-9A67-FABC0221B57D}"/>
              </a:ext>
            </a:extLst>
          </p:cNvPr>
          <p:cNvSpPr/>
          <p:nvPr/>
        </p:nvSpPr>
        <p:spPr>
          <a:xfrm>
            <a:off x="2745437" y="2087407"/>
            <a:ext cx="6178644" cy="1257866"/>
          </a:xfrm>
          <a:prstGeom prst="rect">
            <a:avLst/>
          </a:prstGeom>
          <a:solidFill>
            <a:schemeClr val="bg2">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6" name="矢印: 下カーブ 35">
            <a:extLst>
              <a:ext uri="{FF2B5EF4-FFF2-40B4-BE49-F238E27FC236}">
                <a16:creationId xmlns:a16="http://schemas.microsoft.com/office/drawing/2014/main" id="{F9CE29CE-BABE-4A7D-9D1D-3EB63F30B76D}"/>
              </a:ext>
            </a:extLst>
          </p:cNvPr>
          <p:cNvSpPr/>
          <p:nvPr/>
        </p:nvSpPr>
        <p:spPr>
          <a:xfrm rot="10800000">
            <a:off x="3504268" y="5730640"/>
            <a:ext cx="4765040" cy="52468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8" name="テキスト ボックス 37">
            <a:extLst>
              <a:ext uri="{FF2B5EF4-FFF2-40B4-BE49-F238E27FC236}">
                <a16:creationId xmlns:a16="http://schemas.microsoft.com/office/drawing/2014/main" id="{449A2E0F-58E8-4CA8-B317-A04A09C9A1F8}"/>
              </a:ext>
            </a:extLst>
          </p:cNvPr>
          <p:cNvSpPr txBox="1"/>
          <p:nvPr/>
        </p:nvSpPr>
        <p:spPr>
          <a:xfrm>
            <a:off x="5575612" y="6008216"/>
            <a:ext cx="862680" cy="400110"/>
          </a:xfrm>
          <a:prstGeom prst="rect">
            <a:avLst/>
          </a:prstGeom>
          <a:noFill/>
        </p:spPr>
        <p:txBody>
          <a:bodyPr wrap="square" rtlCol="0">
            <a:spAutoFit/>
          </a:bodyPr>
          <a:lstStyle/>
          <a:p>
            <a:r>
              <a:rPr kumimoji="1" lang="en-US" altLang="ja-JP" sz="2000" dirty="0"/>
              <a:t>merge</a:t>
            </a:r>
            <a:endParaRPr kumimoji="1" lang="ja-JP" altLang="en-US" sz="2000" dirty="0"/>
          </a:p>
        </p:txBody>
      </p:sp>
      <p:sp>
        <p:nvSpPr>
          <p:cNvPr id="7" name="正方形/長方形 6">
            <a:extLst>
              <a:ext uri="{FF2B5EF4-FFF2-40B4-BE49-F238E27FC236}">
                <a16:creationId xmlns:a16="http://schemas.microsoft.com/office/drawing/2014/main" id="{4DB0963C-5410-46A4-AB86-7BDC85409A11}"/>
              </a:ext>
            </a:extLst>
          </p:cNvPr>
          <p:cNvSpPr/>
          <p:nvPr/>
        </p:nvSpPr>
        <p:spPr>
          <a:xfrm>
            <a:off x="2976647" y="2298914"/>
            <a:ext cx="1209500" cy="938620"/>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2800" dirty="0"/>
              <a:t>master</a:t>
            </a:r>
            <a:endParaRPr kumimoji="1" lang="ja-JP" altLang="en-US" sz="2800" dirty="0"/>
          </a:p>
        </p:txBody>
      </p:sp>
      <p:sp>
        <p:nvSpPr>
          <p:cNvPr id="9" name="正方形/長方形 8">
            <a:extLst>
              <a:ext uri="{FF2B5EF4-FFF2-40B4-BE49-F238E27FC236}">
                <a16:creationId xmlns:a16="http://schemas.microsoft.com/office/drawing/2014/main" id="{9DC3A139-3C73-46E2-BF16-4B15D43129E2}"/>
              </a:ext>
            </a:extLst>
          </p:cNvPr>
          <p:cNvSpPr/>
          <p:nvPr/>
        </p:nvSpPr>
        <p:spPr>
          <a:xfrm>
            <a:off x="4846320" y="2322064"/>
            <a:ext cx="1555864" cy="900211"/>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2800" dirty="0" err="1"/>
              <a:t>branchA</a:t>
            </a:r>
            <a:endParaRPr kumimoji="1" lang="en-US" altLang="ja-JP" sz="2800" dirty="0"/>
          </a:p>
        </p:txBody>
      </p:sp>
      <p:sp>
        <p:nvSpPr>
          <p:cNvPr id="10" name="正方形/長方形 9">
            <a:extLst>
              <a:ext uri="{FF2B5EF4-FFF2-40B4-BE49-F238E27FC236}">
                <a16:creationId xmlns:a16="http://schemas.microsoft.com/office/drawing/2014/main" id="{6F20BD39-E2D0-4245-B1A6-933B9F721502}"/>
              </a:ext>
            </a:extLst>
          </p:cNvPr>
          <p:cNvSpPr/>
          <p:nvPr/>
        </p:nvSpPr>
        <p:spPr>
          <a:xfrm>
            <a:off x="7121236" y="2310489"/>
            <a:ext cx="1555864" cy="900211"/>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2800" dirty="0" err="1"/>
              <a:t>branchB</a:t>
            </a:r>
            <a:endParaRPr kumimoji="1" lang="en-US" altLang="ja-JP" sz="2800" dirty="0"/>
          </a:p>
        </p:txBody>
      </p:sp>
      <p:sp>
        <p:nvSpPr>
          <p:cNvPr id="27" name="正方形/長方形 26">
            <a:extLst>
              <a:ext uri="{FF2B5EF4-FFF2-40B4-BE49-F238E27FC236}">
                <a16:creationId xmlns:a16="http://schemas.microsoft.com/office/drawing/2014/main" id="{48E26B7D-4F5C-4F35-9363-616C237DF88B}"/>
              </a:ext>
            </a:extLst>
          </p:cNvPr>
          <p:cNvSpPr/>
          <p:nvPr/>
        </p:nvSpPr>
        <p:spPr>
          <a:xfrm>
            <a:off x="2855487" y="1905618"/>
            <a:ext cx="3658975" cy="345817"/>
          </a:xfrm>
          <a:prstGeom prst="rect">
            <a:avLst/>
          </a:prstGeom>
          <a:solidFill>
            <a:schemeClr val="bg2">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2800" dirty="0"/>
              <a:t>リモートブランチ</a:t>
            </a:r>
          </a:p>
        </p:txBody>
      </p:sp>
      <p:sp>
        <p:nvSpPr>
          <p:cNvPr id="8" name="矢印: 上 7">
            <a:extLst>
              <a:ext uri="{FF2B5EF4-FFF2-40B4-BE49-F238E27FC236}">
                <a16:creationId xmlns:a16="http://schemas.microsoft.com/office/drawing/2014/main" id="{4D373E1F-4F8F-4B30-B1BB-FEC7F2D0CDFF}"/>
              </a:ext>
            </a:extLst>
          </p:cNvPr>
          <p:cNvSpPr/>
          <p:nvPr/>
        </p:nvSpPr>
        <p:spPr>
          <a:xfrm rot="1899474">
            <a:off x="4418416" y="2854202"/>
            <a:ext cx="126405" cy="2397314"/>
          </a:xfrm>
          <a:prstGeom prst="upArrow">
            <a:avLst>
              <a:gd name="adj1" fmla="val 50000"/>
              <a:gd name="adj2" fmla="val 8283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21B1311D-04CA-4126-AECA-FE25245A1DDA}"/>
              </a:ext>
            </a:extLst>
          </p:cNvPr>
          <p:cNvSpPr txBox="1"/>
          <p:nvPr/>
        </p:nvSpPr>
        <p:spPr>
          <a:xfrm>
            <a:off x="4220727" y="3521029"/>
            <a:ext cx="862680" cy="461665"/>
          </a:xfrm>
          <a:prstGeom prst="rect">
            <a:avLst/>
          </a:prstGeom>
          <a:noFill/>
        </p:spPr>
        <p:txBody>
          <a:bodyPr wrap="square" rtlCol="0">
            <a:spAutoFit/>
          </a:bodyPr>
          <a:lstStyle/>
          <a:p>
            <a:r>
              <a:rPr kumimoji="1" lang="en-US" altLang="ja-JP" sz="2400" dirty="0"/>
              <a:t>push</a:t>
            </a:r>
            <a:endParaRPr kumimoji="1" lang="ja-JP" altLang="en-US" sz="2400" dirty="0"/>
          </a:p>
        </p:txBody>
      </p:sp>
      <p:sp>
        <p:nvSpPr>
          <p:cNvPr id="30" name="矢印: 上 29">
            <a:extLst>
              <a:ext uri="{FF2B5EF4-FFF2-40B4-BE49-F238E27FC236}">
                <a16:creationId xmlns:a16="http://schemas.microsoft.com/office/drawing/2014/main" id="{69F5DF44-B407-415B-9963-C8B0119847FE}"/>
              </a:ext>
            </a:extLst>
          </p:cNvPr>
          <p:cNvSpPr/>
          <p:nvPr/>
        </p:nvSpPr>
        <p:spPr>
          <a:xfrm rot="8172320">
            <a:off x="7076697" y="2773571"/>
            <a:ext cx="135660" cy="2720486"/>
          </a:xfrm>
          <a:prstGeom prst="upArrow">
            <a:avLst>
              <a:gd name="adj1" fmla="val 50000"/>
              <a:gd name="adj2" fmla="val 8283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A8C5997C-1B32-49C4-8056-591FE4916DB2}"/>
              </a:ext>
            </a:extLst>
          </p:cNvPr>
          <p:cNvSpPr txBox="1"/>
          <p:nvPr/>
        </p:nvSpPr>
        <p:spPr>
          <a:xfrm>
            <a:off x="6454960" y="3613807"/>
            <a:ext cx="862680" cy="461665"/>
          </a:xfrm>
          <a:prstGeom prst="rect">
            <a:avLst/>
          </a:prstGeom>
          <a:noFill/>
        </p:spPr>
        <p:txBody>
          <a:bodyPr wrap="square" rtlCol="0">
            <a:spAutoFit/>
          </a:bodyPr>
          <a:lstStyle/>
          <a:p>
            <a:r>
              <a:rPr kumimoji="1" lang="en-US" altLang="ja-JP" sz="2400" dirty="0"/>
              <a:t>fetch</a:t>
            </a:r>
            <a:endParaRPr kumimoji="1" lang="ja-JP" altLang="en-US" sz="2400" dirty="0"/>
          </a:p>
        </p:txBody>
      </p:sp>
    </p:spTree>
    <p:extLst>
      <p:ext uri="{BB962C8B-B14F-4D97-AF65-F5344CB8AC3E}">
        <p14:creationId xmlns:p14="http://schemas.microsoft.com/office/powerpoint/2010/main" val="3357999933"/>
      </p:ext>
    </p:extLst>
  </p:cSld>
  <p:clrMapOvr>
    <a:masterClrMapping/>
  </p:clrMapOvr>
</p:sld>
</file>

<file path=ppt/theme/theme1.xml><?xml version="1.0" encoding="utf-8"?>
<a:theme xmlns:a="http://schemas.openxmlformats.org/drawingml/2006/main" name="レトロスペクト">
  <a:themeElements>
    <a:clrScheme name="レトロスペクト">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レトロスペクト">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レトロスペクト">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TM02900769[[fn=レトロスペクト]]</Template>
  <TotalTime>332</TotalTime>
  <Words>1230</Words>
  <Application>Microsoft Office PowerPoint</Application>
  <PresentationFormat>ワイド画面</PresentationFormat>
  <Paragraphs>133</Paragraphs>
  <Slides>22</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22</vt:i4>
      </vt:variant>
    </vt:vector>
  </HeadingPairs>
  <TitlesOfParts>
    <vt:vector size="26" baseType="lpstr">
      <vt:lpstr>ＭＳ Ｐゴシック</vt:lpstr>
      <vt:lpstr>Calibri</vt:lpstr>
      <vt:lpstr>Calibri Light</vt:lpstr>
      <vt:lpstr>レトロスペクト</vt:lpstr>
      <vt:lpstr>Git操作～ブランチ編～</vt:lpstr>
      <vt:lpstr>１．ブランチとは</vt:lpstr>
      <vt:lpstr>２.説明のための背景設定</vt:lpstr>
      <vt:lpstr>３.Aさんの現状（そのほかの人も同様）</vt:lpstr>
      <vt:lpstr>４．ローカルブランチ作成</vt:lpstr>
      <vt:lpstr>５．リモートブランチ作成</vt:lpstr>
      <vt:lpstr>６．リモートブランチにpushまで</vt:lpstr>
      <vt:lpstr>７．GitHubで確認</vt:lpstr>
      <vt:lpstr>７．</vt:lpstr>
      <vt:lpstr>８．プルリクエスト</vt:lpstr>
      <vt:lpstr>８．</vt:lpstr>
      <vt:lpstr>８．</vt:lpstr>
      <vt:lpstr>９．branchB、C</vt:lpstr>
      <vt:lpstr>１０．修正を一つにまとめよう！</vt:lpstr>
      <vt:lpstr>１０．</vt:lpstr>
      <vt:lpstr>１０．</vt:lpstr>
      <vt:lpstr>１０．</vt:lpstr>
      <vt:lpstr>１１．まとめられた！！</vt:lpstr>
      <vt:lpstr>１２．そのあと</vt:lpstr>
      <vt:lpstr>１３.本来なら…（これはまだ見なくてOK）</vt:lpstr>
      <vt:lpstr>１３．（まだ見なくてOK）</vt:lpstr>
      <vt:lpstr>１４．ブランチまとめ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Git操作～ブランチ編～</dc:title>
  <dc:creator>明石 禎紀</dc:creator>
  <cp:lastModifiedBy>明石 禎紀</cp:lastModifiedBy>
  <cp:revision>37</cp:revision>
  <dcterms:created xsi:type="dcterms:W3CDTF">2018-06-24T02:02:01Z</dcterms:created>
  <dcterms:modified xsi:type="dcterms:W3CDTF">2018-07-08T02:19:06Z</dcterms:modified>
</cp:coreProperties>
</file>